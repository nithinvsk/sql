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62" r:id="rId5"/>
    <p:sldId id="357" r:id="rId6"/>
    <p:sldId id="263" r:id="rId7"/>
    <p:sldId id="352" r:id="rId8"/>
    <p:sldId id="353" r:id="rId9"/>
    <p:sldId id="354" r:id="rId10"/>
    <p:sldId id="355" r:id="rId11"/>
    <p:sldId id="356" r:id="rId12"/>
    <p:sldId id="350" r:id="rId13"/>
    <p:sldId id="264" r:id="rId14"/>
    <p:sldId id="265" r:id="rId15"/>
    <p:sldId id="266" r:id="rId16"/>
    <p:sldId id="348" r:id="rId17"/>
    <p:sldId id="349" r:id="rId18"/>
    <p:sldId id="351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7" r:id="rId28"/>
    <p:sldId id="368" r:id="rId29"/>
    <p:sldId id="369" r:id="rId30"/>
    <p:sldId id="370" r:id="rId31"/>
    <p:sldId id="376" r:id="rId32"/>
    <p:sldId id="375" r:id="rId33"/>
    <p:sldId id="374" r:id="rId34"/>
    <p:sldId id="373" r:id="rId35"/>
    <p:sldId id="372" r:id="rId36"/>
    <p:sldId id="371" r:id="rId37"/>
    <p:sldId id="378" r:id="rId38"/>
    <p:sldId id="377" r:id="rId39"/>
    <p:sldId id="379" r:id="rId40"/>
    <p:sldId id="381" r:id="rId41"/>
    <p:sldId id="382" r:id="rId42"/>
    <p:sldId id="383" r:id="rId43"/>
    <p:sldId id="380" r:id="rId44"/>
    <p:sldId id="384" r:id="rId45"/>
    <p:sldId id="385" r:id="rId46"/>
    <p:sldId id="386" r:id="rId47"/>
    <p:sldId id="387" r:id="rId48"/>
    <p:sldId id="388" r:id="rId49"/>
    <p:sldId id="389" r:id="rId50"/>
    <p:sldId id="34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48"/>
    <p:restoredTop sz="94682"/>
  </p:normalViewPr>
  <p:slideViewPr>
    <p:cSldViewPr snapToGrid="0">
      <p:cViewPr varScale="1">
        <p:scale>
          <a:sx n="99" d="100"/>
          <a:sy n="99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C6EF6-EBD2-904E-B2E8-E1B0A6EC2ECB}" type="datetimeFigureOut">
              <a:rPr lang="en-US" smtClean="0"/>
              <a:t>8/18/25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9AE64-091D-0441-A79E-28DD9DBEA8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01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9AE64-091D-0441-A79E-28DD9DBEA81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1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8870-F58F-8575-CAE7-05E389B1A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C295C-F139-BB8F-0053-04090F6D4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71BDB-3832-F8B4-2D42-6683AA70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8EA26-79DB-6543-0298-CDEAF522E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E1169-B02C-1E73-5B11-E75602B4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1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4E90C-7EDA-B997-9AC0-749594C4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EEAF0-83EC-08E3-EEDD-3717DD479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3F76B-80CA-7F57-2191-F918F0CFD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9F144-D2B1-D997-CB8C-33257CEB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8A970-41AA-4DF4-183E-4ECD0014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08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FF70-128E-74E4-EE2D-A64520973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7DD80-9D9F-C724-01D0-A33D108E8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64BF1-DF17-21CE-6943-BB8BDA456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BA388-23A1-E9C8-49AA-AAE9C6CA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29EA1-1878-5581-557D-B3FB87495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793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DD819-900F-6800-DB94-FE79676A3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DDEEC-AAF0-996B-A3FD-371581725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38332-8B48-F69D-8808-7C55CBBC4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90599-AF32-B314-8E2D-B3B1CB59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BE28A-5ED1-5BB5-38EF-20D9DB7C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18A0A-C501-7614-056B-07D79420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6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A15EF-8C7D-2C34-7CF6-49383EB40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C5ED9-1FEB-90C7-069B-95B440653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526E2-C2B3-50A4-C3AB-5CBE26750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B3A32-D02A-5456-1207-20602C8C6C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D16BB7-5005-E091-C14C-9DD50B410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73B4A4-C060-A573-1B9A-15C5B8839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43629-D348-C39C-968F-3B2B2919F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7D282E-4CA4-A035-2611-372D65DB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508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74834-3772-9C41-DE83-069780591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61367-A47B-C5B2-62BA-CF0978D5A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527DA4-0C72-2825-3062-694FE5DD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36FCF-5531-A047-DD54-8452ABA9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714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555831-998A-5B9D-6800-85610325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8518A-FD69-3D75-F05F-EA9009771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807AC-7868-5890-4A2A-36735051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71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17AA-8A2E-E6A9-1965-7DD6DF259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B2027-1148-5CBD-67F6-719EF9471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A01F2-7AA6-E18A-9E4F-2C129B9B1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6D58D-7EE7-4FD4-8EAE-274202C39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DAE210-D65E-2E29-5BBA-DCDE30A7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430259-A003-1F6C-815B-8479C1C7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36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F8D7-58AA-41BA-54DF-523D99BC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EB86A-0F50-9551-5323-A8DF77D72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CB3BE3-96D2-CA72-9E4E-3DE3A0597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493D0-4988-51B0-1CCC-E0D6532F1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8B265-5F01-950E-C5E3-55F1B11BA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EA0F9-04A2-372B-0CDC-F2F605A0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358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3D0B-A90F-1048-CDAC-748BA398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02938-9AD6-137D-67D9-843D5C07E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BB333-19DC-B742-CC75-502F57E1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9BC7-26C9-C233-D37D-E9C66832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CB5AF-3733-FADD-9782-CA5C8FC8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9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67085-0824-50A6-B681-81ED45D77F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58B89-5325-343F-B882-F9941DE19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10AFD-D974-E3B4-2E36-29B45669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BF37E-EB1B-A855-D588-DA25D2627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38C35-7B78-C554-2847-45D1C0151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707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E337E-1011-551D-F207-9582298C0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927413-1786-AA41-F869-4CEB379A8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5730F-5233-ABDB-49F9-D9BEBBD33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FB5FB-0809-4F4E-B780-5E6AF02CD103}" type="datetimeFigureOut">
              <a:rPr lang="en-IN" smtClean="0"/>
              <a:t>18/08/25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ED738-B11D-CC7F-05F6-C921C0C15E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89178-C51C-7BB2-B893-4C08F8B0FC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AD559-DD76-4C11-AF55-8B6A7175B6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325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ysql.com/doc/refman/8.4/en/charset-mysql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D3B6-D678-153F-0C36-4FAEADF80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8585" y="1418929"/>
            <a:ext cx="9144000" cy="192758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SQL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1136D-FB72-9C9D-AE9E-340A3B44C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494" y="5440363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3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Topics to be Covered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9FE53-6A79-556F-6F8D-9BCC8BB13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1114"/>
            <a:ext cx="10515600" cy="4895849"/>
          </a:xfrm>
        </p:spPr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SQL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Building Blocks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Data Types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MySQL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in MySQL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Deleting/Dropping a Database in MySQL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494" y="5440363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60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49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SQL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9FE53-6A79-556F-6F8D-9BCC8BB13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2619"/>
            <a:ext cx="10515600" cy="4904344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200" b="1" dirty="0"/>
              <a:t>SQL (Structured Query Language)</a:t>
            </a:r>
            <a:r>
              <a:rPr lang="en-IN" sz="2200" dirty="0"/>
              <a:t> is a standard language used to </a:t>
            </a:r>
            <a:r>
              <a:rPr lang="en-IN" sz="2200" b="1" dirty="0"/>
              <a:t>store, manage, and manipulate data</a:t>
            </a:r>
            <a:r>
              <a:rPr lang="en-IN" sz="2200" dirty="0"/>
              <a:t> in a relational database.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/>
              <a:t>It allows users to </a:t>
            </a:r>
            <a:r>
              <a:rPr lang="en-IN" sz="2200" b="1" dirty="0"/>
              <a:t>create databases, insert data, update records, delete records, and retrieve data</a:t>
            </a:r>
            <a:r>
              <a:rPr lang="en-IN" sz="2200" dirty="0"/>
              <a:t> using queries.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200" dirty="0"/>
              <a:t>SQL is composed of four parts: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sz="2200" b="1" dirty="0"/>
              <a:t>Data definition language (DDL)</a:t>
            </a:r>
            <a:r>
              <a:rPr lang="en-IN" sz="2200" dirty="0"/>
              <a:t> includes statements for defining the database and its objects such as tables, views, triggers, stored procedures, etc.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sz="2200" b="1" dirty="0"/>
              <a:t>Data manipulation language (DML)</a:t>
            </a:r>
            <a:r>
              <a:rPr lang="en-IN" sz="2200" dirty="0"/>
              <a:t> contains statements for updating and querying data.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sz="2200" b="1" dirty="0"/>
              <a:t>Data control language (DCL)</a:t>
            </a:r>
            <a:r>
              <a:rPr lang="en-IN" sz="2200" dirty="0"/>
              <a:t> allows you to grant permissions to users to access specific data in the database.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sz="2200" b="1" dirty="0"/>
              <a:t>Transaction Control Language (TCL)</a:t>
            </a:r>
            <a:r>
              <a:rPr lang="en-IN" sz="2200" dirty="0"/>
              <a:t> is a part of SQL that deals with </a:t>
            </a:r>
            <a:r>
              <a:rPr lang="en-IN" sz="2200" b="1" dirty="0"/>
              <a:t>transactions</a:t>
            </a:r>
            <a:r>
              <a:rPr lang="en-IN" sz="2200" dirty="0"/>
              <a:t> in a database.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94" y="5585381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1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494" y="5742451"/>
            <a:ext cx="3387211" cy="11078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0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Building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9FE53-6A79-556F-6F8D-9BCC8BB13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337"/>
            <a:ext cx="5031348" cy="493752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400" b="1" dirty="0"/>
              <a:t>Data Definition Language (DDL): </a:t>
            </a:r>
          </a:p>
          <a:p>
            <a:pPr>
              <a:buNone/>
            </a:pPr>
            <a:r>
              <a:rPr lang="en-IN" sz="2400" b="1" dirty="0"/>
              <a:t>	</a:t>
            </a:r>
            <a:r>
              <a:rPr lang="en-IN" sz="2400" dirty="0"/>
              <a:t>Used to define the structure of the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CREATE → create tables/databases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ALTER → modify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DROP → delete tables/databases</a:t>
            </a:r>
          </a:p>
          <a:p>
            <a:pPr>
              <a:buNone/>
            </a:pPr>
            <a:r>
              <a:rPr lang="en-IN" sz="2400" b="1" dirty="0"/>
              <a:t>Data Manipulation Language (DML): </a:t>
            </a:r>
            <a:r>
              <a:rPr lang="en-IN" sz="2400" dirty="0"/>
              <a:t>Used to manipulate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INSERT → add new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UPDATE → modify existing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DELETE → remove records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B50340-6EFE-87D8-46A5-A462CE8A8560}"/>
              </a:ext>
            </a:extLst>
          </p:cNvPr>
          <p:cNvSpPr txBox="1">
            <a:spLocks/>
          </p:cNvSpPr>
          <p:nvPr/>
        </p:nvSpPr>
        <p:spPr>
          <a:xfrm>
            <a:off x="6250548" y="1239423"/>
            <a:ext cx="5257800" cy="4770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IN" sz="2400" b="1" dirty="0"/>
              <a:t>Data Query Language (DQL):</a:t>
            </a:r>
            <a:endParaRPr lang="en-IN" sz="2400" dirty="0"/>
          </a:p>
          <a:p>
            <a:r>
              <a:rPr lang="en-IN" sz="2400" dirty="0"/>
              <a:t>SELECT → retrieve data from tables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sz="2400" b="1" dirty="0"/>
              <a:t>Data Control Language (DCL):</a:t>
            </a:r>
            <a:endParaRPr lang="en-IN" sz="2400" dirty="0"/>
          </a:p>
          <a:p>
            <a:r>
              <a:rPr lang="en-IN" sz="2400" dirty="0"/>
              <a:t>GRANT → give access permissions</a:t>
            </a:r>
          </a:p>
          <a:p>
            <a:r>
              <a:rPr lang="en-IN" sz="2400" dirty="0"/>
              <a:t>REVOKE → remove permissions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sz="2400" b="1" dirty="0"/>
              <a:t>Transaction Control Language (TCL):</a:t>
            </a:r>
            <a:endParaRPr lang="en-IN" sz="2400" dirty="0"/>
          </a:p>
          <a:p>
            <a:r>
              <a:rPr lang="en-IN" sz="2400" dirty="0"/>
              <a:t>COMMIT → save changes permanently</a:t>
            </a:r>
          </a:p>
          <a:p>
            <a:r>
              <a:rPr lang="en-IN" sz="2400" dirty="0"/>
              <a:t>ROLLBACK → undo changes</a:t>
            </a:r>
          </a:p>
          <a:p>
            <a:r>
              <a:rPr lang="en-IN" sz="2400" dirty="0"/>
              <a:t>SAVEPOINT → mark a point in a transaction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376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A60E5-C1CB-92CC-7B4E-06B1D0D05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E3996-A9A3-A338-E0C4-C49969DB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Building Blocks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24F58-C5B0-4FB4-7351-B35A30329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E6C2DE06-2FA2-480B-E756-213B560D65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1055688"/>
            <a:ext cx="7214181" cy="4809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7192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Definition Language (DDL)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9FE53-6A79-556F-6F8D-9BCC8BB13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941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the structure of the database (tables, schemas, constraints).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516C4E-33DD-36BB-C80A-123FAAE8B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958611"/>
              </p:ext>
            </p:extLst>
          </p:nvPr>
        </p:nvGraphicFramePr>
        <p:xfrm>
          <a:off x="838200" y="1829406"/>
          <a:ext cx="10515600" cy="3200400"/>
        </p:xfrm>
        <a:graphic>
          <a:graphicData uri="http://schemas.openxmlformats.org/drawingml/2006/table">
            <a:tbl>
              <a:tblPr/>
              <a:tblGrid>
                <a:gridCol w="1479997">
                  <a:extLst>
                    <a:ext uri="{9D8B030D-6E8A-4147-A177-3AD203B41FA5}">
                      <a16:colId xmlns:a16="http://schemas.microsoft.com/office/drawing/2014/main" val="2873929722"/>
                    </a:ext>
                  </a:extLst>
                </a:gridCol>
                <a:gridCol w="4842457">
                  <a:extLst>
                    <a:ext uri="{9D8B030D-6E8A-4147-A177-3AD203B41FA5}">
                      <a16:colId xmlns:a16="http://schemas.microsoft.com/office/drawing/2014/main" val="1626314744"/>
                    </a:ext>
                  </a:extLst>
                </a:gridCol>
                <a:gridCol w="4193146">
                  <a:extLst>
                    <a:ext uri="{9D8B030D-6E8A-4147-A177-3AD203B41FA5}">
                      <a16:colId xmlns:a16="http://schemas.microsoft.com/office/drawing/2014/main" val="360770706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39363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CREATE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database objects (tables, views, indexes)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CREATE TABLE Students (ID INT, Name VARCHAR(50));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29337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ALTER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Modify database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ALTER TABLE Students ADD Age INT;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41632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DROP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Delete database objects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DROP TABLE Students;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32108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TRUNCATE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 all records but keep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TRUNCATE TABLE Students;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55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707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7233-33C6-3375-792A-831DDC2E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74968-9AA8-A216-3B0D-1CE3FF6FB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Manipulation Language (DML)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E53D2-1A73-5308-44AF-50CDCDD9B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941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manipulate data (insert, update, delete).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18537-19AE-D667-474F-59286011C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C8BE6C-AC1E-86BB-6903-DAE2F75F0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983030"/>
              </p:ext>
            </p:extLst>
          </p:nvPr>
        </p:nvGraphicFramePr>
        <p:xfrm>
          <a:off x="838200" y="2029389"/>
          <a:ext cx="10515600" cy="1463040"/>
        </p:xfrm>
        <a:graphic>
          <a:graphicData uri="http://schemas.openxmlformats.org/drawingml/2006/table">
            <a:tbl>
              <a:tblPr/>
              <a:tblGrid>
                <a:gridCol w="1467118">
                  <a:extLst>
                    <a:ext uri="{9D8B030D-6E8A-4147-A177-3AD203B41FA5}">
                      <a16:colId xmlns:a16="http://schemas.microsoft.com/office/drawing/2014/main" val="521154838"/>
                    </a:ext>
                  </a:extLst>
                </a:gridCol>
                <a:gridCol w="2575775">
                  <a:extLst>
                    <a:ext uri="{9D8B030D-6E8A-4147-A177-3AD203B41FA5}">
                      <a16:colId xmlns:a16="http://schemas.microsoft.com/office/drawing/2014/main" val="2509177379"/>
                    </a:ext>
                  </a:extLst>
                </a:gridCol>
                <a:gridCol w="6472707">
                  <a:extLst>
                    <a:ext uri="{9D8B030D-6E8A-4147-A177-3AD203B41FA5}">
                      <a16:colId xmlns:a16="http://schemas.microsoft.com/office/drawing/2014/main" val="17972646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02493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INSERT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new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INSERT INTO Students VALUES (1, 'Aftab', 21);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2859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UPDATE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Modify existing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UPDATE Students SET Age = 22 WHERE ID = 1;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5023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DELETE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DELETE FROM Students WHERE ID = 1;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545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03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6D00-7002-4634-4B8F-12F447FF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5213-FB86-9D10-3F51-B18717F3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Query Language (DQL)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B55FC-93C9-D71A-AF4D-E92E64D0C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941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query/retrieve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10CFB-35DB-5292-D285-4642A3A41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B6F58A-D8C8-933F-AAE7-06EB082BD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1810"/>
              </p:ext>
            </p:extLst>
          </p:nvPr>
        </p:nvGraphicFramePr>
        <p:xfrm>
          <a:off x="838200" y="1940030"/>
          <a:ext cx="10515600" cy="731520"/>
        </p:xfrm>
        <a:graphic>
          <a:graphicData uri="http://schemas.openxmlformats.org/drawingml/2006/table">
            <a:tbl>
              <a:tblPr/>
              <a:tblGrid>
                <a:gridCol w="1724696">
                  <a:extLst>
                    <a:ext uri="{9D8B030D-6E8A-4147-A177-3AD203B41FA5}">
                      <a16:colId xmlns:a16="http://schemas.microsoft.com/office/drawing/2014/main" val="2598793440"/>
                    </a:ext>
                  </a:extLst>
                </a:gridCol>
                <a:gridCol w="3232597">
                  <a:extLst>
                    <a:ext uri="{9D8B030D-6E8A-4147-A177-3AD203B41FA5}">
                      <a16:colId xmlns:a16="http://schemas.microsoft.com/office/drawing/2014/main" val="4096448102"/>
                    </a:ext>
                  </a:extLst>
                </a:gridCol>
                <a:gridCol w="5558307">
                  <a:extLst>
                    <a:ext uri="{9D8B030D-6E8A-4147-A177-3AD203B41FA5}">
                      <a16:colId xmlns:a16="http://schemas.microsoft.com/office/drawing/2014/main" val="73435453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3663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SELECT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Retrieve data from tables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SELECT Name, Age FROM Students;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534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646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FA6F5-475B-2E9A-92EC-2920110E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17FB-B923-730E-24D3-26D58968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Control Language (DCL)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0B11A-9190-5BD2-4F3D-363FE4BF7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941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access rights &amp; permissions.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DFB72-C757-4E72-43F3-D93DF4AA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C27434-6FEA-5776-7F0B-93875B1FA6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364729"/>
              </p:ext>
            </p:extLst>
          </p:nvPr>
        </p:nvGraphicFramePr>
        <p:xfrm>
          <a:off x="928352" y="2006966"/>
          <a:ext cx="10515600" cy="1097280"/>
        </p:xfrm>
        <a:graphic>
          <a:graphicData uri="http://schemas.openxmlformats.org/drawingml/2006/table">
            <a:tbl>
              <a:tblPr/>
              <a:tblGrid>
                <a:gridCol w="1441361">
                  <a:extLst>
                    <a:ext uri="{9D8B030D-6E8A-4147-A177-3AD203B41FA5}">
                      <a16:colId xmlns:a16="http://schemas.microsoft.com/office/drawing/2014/main" val="4020291376"/>
                    </a:ext>
                  </a:extLst>
                </a:gridCol>
                <a:gridCol w="2704563">
                  <a:extLst>
                    <a:ext uri="{9D8B030D-6E8A-4147-A177-3AD203B41FA5}">
                      <a16:colId xmlns:a16="http://schemas.microsoft.com/office/drawing/2014/main" val="3219509413"/>
                    </a:ext>
                  </a:extLst>
                </a:gridCol>
                <a:gridCol w="6369676">
                  <a:extLst>
                    <a:ext uri="{9D8B030D-6E8A-4147-A177-3AD203B41FA5}">
                      <a16:colId xmlns:a16="http://schemas.microsoft.com/office/drawing/2014/main" val="32923052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655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Give user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GRANT SELECT ON Students TO user1;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9862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REVOKE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Remove user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REVOKE SELECT ON Students FROM user1;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617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640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E963-FB94-E487-90DE-B4777F804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FE585-DD2A-B6EC-F257-A5FEFB2F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Control Language (TCL)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BDF24-AA81-16EC-2278-CDDD630CA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941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safe and consistent transactions.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EC60F-4497-F48F-AD42-2C37EDC06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020DE4-110F-D4AC-99E7-9FEFAABCB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504148"/>
              </p:ext>
            </p:extLst>
          </p:nvPr>
        </p:nvGraphicFramePr>
        <p:xfrm>
          <a:off x="1164707" y="2189846"/>
          <a:ext cx="9228545" cy="1463040"/>
        </p:xfrm>
        <a:graphic>
          <a:graphicData uri="http://schemas.openxmlformats.org/drawingml/2006/table">
            <a:tbl>
              <a:tblPr/>
              <a:tblGrid>
                <a:gridCol w="1965705">
                  <a:extLst>
                    <a:ext uri="{9D8B030D-6E8A-4147-A177-3AD203B41FA5}">
                      <a16:colId xmlns:a16="http://schemas.microsoft.com/office/drawing/2014/main" val="690669815"/>
                    </a:ext>
                  </a:extLst>
                </a:gridCol>
                <a:gridCol w="3266441">
                  <a:extLst>
                    <a:ext uri="{9D8B030D-6E8A-4147-A177-3AD203B41FA5}">
                      <a16:colId xmlns:a16="http://schemas.microsoft.com/office/drawing/2014/main" val="2293069797"/>
                    </a:ext>
                  </a:extLst>
                </a:gridCol>
                <a:gridCol w="3996399">
                  <a:extLst>
                    <a:ext uri="{9D8B030D-6E8A-4147-A177-3AD203B41FA5}">
                      <a16:colId xmlns:a16="http://schemas.microsoft.com/office/drawing/2014/main" val="113815713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414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COMMIT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Save changes permanently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COMMIT;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7278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ROLLBACK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Undo uncommitted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ROLLBACK;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09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SAVEPOINT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 a point in a transaction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SAVEPOINT sp1;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628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625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23A92-6108-1DEB-4E80-9C2B3E8D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BD5A-E017-6D22-D947-537A1409E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 (Integrity Rules)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E53D0-D1E3-63AB-B3B0-3B2AAA256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941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validity &amp; integrity inside a table.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6F90D4-F0D3-37E0-6C58-E1032AED2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330183-7E37-D806-9FF5-5CC961A7DE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440816"/>
              </p:ext>
            </p:extLst>
          </p:nvPr>
        </p:nvGraphicFramePr>
        <p:xfrm>
          <a:off x="1018504" y="1783686"/>
          <a:ext cx="10515600" cy="3840480"/>
        </p:xfrm>
        <a:graphic>
          <a:graphicData uri="http://schemas.openxmlformats.org/drawingml/2006/table">
            <a:tbl>
              <a:tblPr/>
              <a:tblGrid>
                <a:gridCol w="2149699">
                  <a:extLst>
                    <a:ext uri="{9D8B030D-6E8A-4147-A177-3AD203B41FA5}">
                      <a16:colId xmlns:a16="http://schemas.microsoft.com/office/drawing/2014/main" val="3524856414"/>
                    </a:ext>
                  </a:extLst>
                </a:gridCol>
                <a:gridCol w="3580327">
                  <a:extLst>
                    <a:ext uri="{9D8B030D-6E8A-4147-A177-3AD203B41FA5}">
                      <a16:colId xmlns:a16="http://schemas.microsoft.com/office/drawing/2014/main" val="1365213583"/>
                    </a:ext>
                  </a:extLst>
                </a:gridCol>
                <a:gridCol w="4785574">
                  <a:extLst>
                    <a:ext uri="{9D8B030D-6E8A-4147-A177-3AD203B41FA5}">
                      <a16:colId xmlns:a16="http://schemas.microsoft.com/office/drawing/2014/main" val="30393819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Constraint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51086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PRIMARY KEY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identifier for each record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PRIMARY KEY (ID)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2738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FOREIGN KEY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Links tables together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FOREIGN KEY (DeptID) REFERENCES Department(ID)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06961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UNIQUE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Ensures unique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UNIQUE (Email)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973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NOT NULL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Column cannot have NULL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Name VARCHAR(50) NOT NULL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86494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CHECK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Enforce condition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CHECK (Age &gt;= 18)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44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56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79C4E-FB28-F33A-B3BF-7DB859FFE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99ED-BF77-880A-2AB0-686B2C19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Data Types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57CC2-C2B5-D745-3F13-4F7F6AB24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4BA0B9-4D04-590C-3633-FCA15FBBC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2130"/>
            <a:ext cx="10515600" cy="4914833"/>
          </a:xfrm>
        </p:spPr>
        <p:txBody>
          <a:bodyPr>
            <a:normAutofit/>
          </a:bodyPr>
          <a:lstStyle/>
          <a:p>
            <a:r>
              <a:rPr lang="en-US" sz="2400" dirty="0"/>
              <a:t>SQL provides different data types to define the kind of values that can be stored in a table column.</a:t>
            </a:r>
            <a:br>
              <a:rPr lang="en-US" sz="2400" dirty="0"/>
            </a:br>
            <a:r>
              <a:rPr lang="en-US" sz="2400" dirty="0"/>
              <a:t>They are mainly grouped into:</a:t>
            </a:r>
          </a:p>
          <a:p>
            <a:pPr lvl="1"/>
            <a:r>
              <a:rPr lang="en-US" dirty="0"/>
              <a:t>Numeric Data Types</a:t>
            </a:r>
          </a:p>
          <a:p>
            <a:pPr lvl="1"/>
            <a:r>
              <a:rPr lang="en-US" dirty="0"/>
              <a:t>Character/String Data Types</a:t>
            </a:r>
          </a:p>
          <a:p>
            <a:pPr lvl="1"/>
            <a:r>
              <a:rPr lang="en-US" dirty="0"/>
              <a:t>Date and Time Data Types</a:t>
            </a:r>
          </a:p>
          <a:p>
            <a:pPr lvl="1"/>
            <a:r>
              <a:rPr lang="en-US" dirty="0"/>
              <a:t>Binary Data Types</a:t>
            </a:r>
          </a:p>
          <a:p>
            <a:pPr lvl="1"/>
            <a:r>
              <a:rPr lang="en-US" dirty="0"/>
              <a:t>Other Special Data Types (depending on the RDBMS: MySQL, Oracle, SQL Server, PostgreSQL, etc.)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3559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945"/>
          </a:xfrm>
        </p:spPr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Numeric Data Types</a:t>
            </a:r>
            <a:endParaRPr lang="en-IN" sz="40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19F2D8C-19F2-2D3B-85BE-6AF5AA616C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802044"/>
              </p:ext>
            </p:extLst>
          </p:nvPr>
        </p:nvGraphicFramePr>
        <p:xfrm>
          <a:off x="838200" y="1582975"/>
          <a:ext cx="10515600" cy="3200400"/>
        </p:xfrm>
        <a:graphic>
          <a:graphicData uri="http://schemas.openxmlformats.org/drawingml/2006/table">
            <a:tbl>
              <a:tblPr/>
              <a:tblGrid>
                <a:gridCol w="2600459">
                  <a:extLst>
                    <a:ext uri="{9D8B030D-6E8A-4147-A177-3AD203B41FA5}">
                      <a16:colId xmlns:a16="http://schemas.microsoft.com/office/drawing/2014/main" val="3123000261"/>
                    </a:ext>
                  </a:extLst>
                </a:gridCol>
                <a:gridCol w="4546242">
                  <a:extLst>
                    <a:ext uri="{9D8B030D-6E8A-4147-A177-3AD203B41FA5}">
                      <a16:colId xmlns:a16="http://schemas.microsoft.com/office/drawing/2014/main" val="1177072733"/>
                    </a:ext>
                  </a:extLst>
                </a:gridCol>
                <a:gridCol w="3368899">
                  <a:extLst>
                    <a:ext uri="{9D8B030D-6E8A-4147-A177-3AD203B41FA5}">
                      <a16:colId xmlns:a16="http://schemas.microsoft.com/office/drawing/2014/main" val="3589800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580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en-IN"/>
                        <a:t> /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INTEGER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Whole numbers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101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-25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539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SMALLINT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 integers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30000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021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BIGINT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integers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9876543210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270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DECIMAL(p,s)</a:t>
                      </a:r>
                      <a:r>
                        <a:rPr lang="en-IN"/>
                        <a:t> /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NUMERIC(p,s)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Fixed precision (p = total digits, s = digits after decimal)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DECIMAL(8,2)</a:t>
                      </a:r>
                      <a:r>
                        <a:rPr lang="en-IN"/>
                        <a:t> →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12345.67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796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FLOAT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Approximate floating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3.14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561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REAL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precision floating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1.234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35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DOUBLE PRECISION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precision floating number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1234567.123456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85069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774" y="5576888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98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945"/>
          </a:xfrm>
        </p:spPr>
        <p:txBody>
          <a:bodyPr>
            <a:normAutofit/>
          </a:bodyPr>
          <a:lstStyle/>
          <a:p>
            <a:r>
              <a:rPr lang="en-US" sz="4000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Character/String Data Types</a:t>
            </a:r>
            <a:endParaRPr lang="en-IN" sz="40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C8195D-0576-899B-9F55-36DC1A68D7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617197"/>
              </p:ext>
            </p:extLst>
          </p:nvPr>
        </p:nvGraphicFramePr>
        <p:xfrm>
          <a:off x="838200" y="1609860"/>
          <a:ext cx="10515600" cy="2009104"/>
        </p:xfrm>
        <a:graphic>
          <a:graphicData uri="http://schemas.openxmlformats.org/drawingml/2006/table">
            <a:tbl>
              <a:tblPr/>
              <a:tblGrid>
                <a:gridCol w="1879242">
                  <a:extLst>
                    <a:ext uri="{9D8B030D-6E8A-4147-A177-3AD203B41FA5}">
                      <a16:colId xmlns:a16="http://schemas.microsoft.com/office/drawing/2014/main" val="2865204594"/>
                    </a:ext>
                  </a:extLst>
                </a:gridCol>
                <a:gridCol w="4314423">
                  <a:extLst>
                    <a:ext uri="{9D8B030D-6E8A-4147-A177-3AD203B41FA5}">
                      <a16:colId xmlns:a16="http://schemas.microsoft.com/office/drawing/2014/main" val="754273683"/>
                    </a:ext>
                  </a:extLst>
                </a:gridCol>
                <a:gridCol w="4321935">
                  <a:extLst>
                    <a:ext uri="{9D8B030D-6E8A-4147-A177-3AD203B41FA5}">
                      <a16:colId xmlns:a16="http://schemas.microsoft.com/office/drawing/2014/main" val="3891271201"/>
                    </a:ext>
                  </a:extLst>
                </a:gridCol>
              </a:tblGrid>
              <a:tr h="502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741238"/>
                  </a:ext>
                </a:extLst>
              </a:tr>
              <a:tr h="502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CHAR(n)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Fixed-length string (padded with spaces)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CHAR(10)</a:t>
                      </a:r>
                      <a:r>
                        <a:rPr lang="en-IN"/>
                        <a:t> →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"SQL "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711170"/>
                  </a:ext>
                </a:extLst>
              </a:tr>
              <a:tr h="502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VARCHAR(n)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Variable-length 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"Database"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784355"/>
                  </a:ext>
                </a:extLst>
              </a:tr>
              <a:tr h="5022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TEXT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Large text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"This is a long paragraph..."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21299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189" y="5531227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68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04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Date &amp; Time Data Types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B01B79C-173D-F88B-6DD1-66687F4477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948380"/>
              </p:ext>
            </p:extLst>
          </p:nvPr>
        </p:nvGraphicFramePr>
        <p:xfrm>
          <a:off x="957519" y="1673802"/>
          <a:ext cx="10515600" cy="2194560"/>
        </p:xfrm>
        <a:graphic>
          <a:graphicData uri="http://schemas.openxmlformats.org/drawingml/2006/table">
            <a:tbl>
              <a:tblPr/>
              <a:tblGrid>
                <a:gridCol w="2403867">
                  <a:extLst>
                    <a:ext uri="{9D8B030D-6E8A-4147-A177-3AD203B41FA5}">
                      <a16:colId xmlns:a16="http://schemas.microsoft.com/office/drawing/2014/main" val="2408972142"/>
                    </a:ext>
                  </a:extLst>
                </a:gridCol>
                <a:gridCol w="3889419">
                  <a:extLst>
                    <a:ext uri="{9D8B030D-6E8A-4147-A177-3AD203B41FA5}">
                      <a16:colId xmlns:a16="http://schemas.microsoft.com/office/drawing/2014/main" val="350428790"/>
                    </a:ext>
                  </a:extLst>
                </a:gridCol>
                <a:gridCol w="4222314">
                  <a:extLst>
                    <a:ext uri="{9D8B030D-6E8A-4147-A177-3AD203B41FA5}">
                      <a16:colId xmlns:a16="http://schemas.microsoft.com/office/drawing/2014/main" val="3373284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48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DATE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date (YYYY-MM-DD)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2025-08-18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90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time (HH:MM:SS)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14:45:20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233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DATETIME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date +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2025-08-18 14:45:20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026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TIMESTAMP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Auto-updated date &amp;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2025-08-18 14:45:20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468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YEAR</a:t>
                      </a:r>
                      <a:r>
                        <a:rPr lang="en-IN"/>
                        <a:t> (MySQL)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Year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2025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17259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955" y="5576888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948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806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Data Types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2CF3C65-D7AB-A265-8ABF-26B2275DED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147391"/>
              </p:ext>
            </p:extLst>
          </p:nvPr>
        </p:nvGraphicFramePr>
        <p:xfrm>
          <a:off x="914299" y="1691640"/>
          <a:ext cx="10515600" cy="1463040"/>
        </p:xfrm>
        <a:graphic>
          <a:graphicData uri="http://schemas.openxmlformats.org/drawingml/2006/table">
            <a:tbl>
              <a:tblPr/>
              <a:tblGrid>
                <a:gridCol w="2356935">
                  <a:extLst>
                    <a:ext uri="{9D8B030D-6E8A-4147-A177-3AD203B41FA5}">
                      <a16:colId xmlns:a16="http://schemas.microsoft.com/office/drawing/2014/main" val="766219835"/>
                    </a:ext>
                  </a:extLst>
                </a:gridCol>
                <a:gridCol w="4653465">
                  <a:extLst>
                    <a:ext uri="{9D8B030D-6E8A-4147-A177-3AD203B41FA5}">
                      <a16:colId xmlns:a16="http://schemas.microsoft.com/office/drawing/2014/main" val="7561637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583245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685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BINARY(n)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Fixed-length binary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101010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75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VARBINARY(n)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Variable-length binary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11010101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215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BLOB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binary data (images, files, videos)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Image file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47257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494" y="5440363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57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8481-FEE3-8AE0-0F22-71984D5A7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806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Special Data Types</a:t>
            </a:r>
            <a:endParaRPr lang="en-IN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6D07E4F-1C47-6790-9D80-DCF1112F75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0903281"/>
              </p:ext>
            </p:extLst>
          </p:nvPr>
        </p:nvGraphicFramePr>
        <p:xfrm>
          <a:off x="914298" y="1771020"/>
          <a:ext cx="10818354" cy="1828800"/>
        </p:xfrm>
        <a:graphic>
          <a:graphicData uri="http://schemas.openxmlformats.org/drawingml/2006/table">
            <a:tbl>
              <a:tblPr/>
              <a:tblGrid>
                <a:gridCol w="1597082">
                  <a:extLst>
                    <a:ext uri="{9D8B030D-6E8A-4147-A177-3AD203B41FA5}">
                      <a16:colId xmlns:a16="http://schemas.microsoft.com/office/drawing/2014/main" val="1493125640"/>
                    </a:ext>
                  </a:extLst>
                </a:gridCol>
                <a:gridCol w="4577367">
                  <a:extLst>
                    <a:ext uri="{9D8B030D-6E8A-4147-A177-3AD203B41FA5}">
                      <a16:colId xmlns:a16="http://schemas.microsoft.com/office/drawing/2014/main" val="1370366665"/>
                    </a:ext>
                  </a:extLst>
                </a:gridCol>
                <a:gridCol w="4643905">
                  <a:extLst>
                    <a:ext uri="{9D8B030D-6E8A-4147-A177-3AD203B41FA5}">
                      <a16:colId xmlns:a16="http://schemas.microsoft.com/office/drawing/2014/main" val="2961531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Example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695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BOOLEAN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Logical values (TRUE / FALSE)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TRUE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692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ENUM</a:t>
                      </a:r>
                      <a:r>
                        <a:rPr lang="en-IN"/>
                        <a:t> (MySQL)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Predefined set of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'Small', 'Medium', 'Large'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00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JSON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JSON 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(JavaScript Object Notation)</a:t>
                      </a:r>
                      <a:r>
                        <a:rPr lang="en-IN" dirty="0"/>
                        <a:t>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{"id":101,"name":"ABC"}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466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XML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XML (</a:t>
                      </a: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Extensible Markup Language) </a:t>
                      </a:r>
                      <a:r>
                        <a:rPr lang="en-IN" dirty="0"/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&lt;student&gt;&lt;id&gt;101&lt;/id&gt;&lt;/student&gt;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432539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8600B57-AAD5-AAC3-FA3F-C0D78DA4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8494" y="5440363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08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C3C9-007C-E49A-9B5D-9820B6445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86BAB-1FD2-EE4C-66BD-5861C91D9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RDBMS using SQL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0B741-CBAF-657F-28FA-8A1F79012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941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is used with popular RDBMS (Relational Database Management Systems) such as: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1F1E37-F119-D261-0EC7-B5CFAD8FD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3204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E368F-D201-4355-7EA5-5AD83650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CCE29-57E9-EC8C-374D-DB0C51C3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MySQL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57F34-1FDA-07E7-5F8E-28537C7FD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33557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is an open-source Relational Database Management System (RDBMS).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SQL (Structured Query Language) to manage and manipulate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MySQL AB (now owned by Oracle Corporation).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is named after the founder’s daughter "My" + SQL (Structured Query Language).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MySQL’s dolphin logo is called “Sakila”, named after a town in Africa.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popular databases used for web applications, often with PHP (in the LAMP stack: Linux, Apache, MySQL, PHP/Python/Perl).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compared to other database software like Oracle Database or Microsoft SQL Server, MySQL is relatively easy to master.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is versatile and can run on various platforms, including UNIX, Linux, and Windows. 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B697E0-ABDE-0691-5FF1-50BAE1354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973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64B16-F80C-D5D7-D475-B0A90FAE6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5718-103A-7D07-B191-52B8E36C3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 of MySQL</a:t>
            </a:r>
            <a:endParaRPr lang="en-IN" sz="40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2B18A5-CA16-2431-FC83-92BA87AB5E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854447"/>
              </p:ext>
            </p:extLst>
          </p:nvPr>
        </p:nvGraphicFramePr>
        <p:xfrm>
          <a:off x="1533659" y="1119588"/>
          <a:ext cx="9683840" cy="4409502"/>
        </p:xfrm>
        <a:graphic>
          <a:graphicData uri="http://schemas.openxmlformats.org/drawingml/2006/table">
            <a:tbl>
              <a:tblPr/>
              <a:tblGrid>
                <a:gridCol w="1488120">
                  <a:extLst>
                    <a:ext uri="{9D8B030D-6E8A-4147-A177-3AD203B41FA5}">
                      <a16:colId xmlns:a16="http://schemas.microsoft.com/office/drawing/2014/main" val="3762328275"/>
                    </a:ext>
                  </a:extLst>
                </a:gridCol>
                <a:gridCol w="8195720">
                  <a:extLst>
                    <a:ext uri="{9D8B030D-6E8A-4147-A177-3AD203B41FA5}">
                      <a16:colId xmlns:a16="http://schemas.microsoft.com/office/drawing/2014/main" val="844647890"/>
                    </a:ext>
                  </a:extLst>
                </a:gridCol>
              </a:tblGrid>
              <a:tr h="5215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/>
                        <a:t>Event / Milestone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260020"/>
                  </a:ext>
                </a:extLst>
              </a:tr>
              <a:tr h="5215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1994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MySQL AB founded in Sweden by Michael </a:t>
                      </a:r>
                      <a:r>
                        <a:rPr lang="en-IN" dirty="0" err="1"/>
                        <a:t>Widenius</a:t>
                      </a:r>
                      <a:r>
                        <a:rPr lang="en-IN" dirty="0"/>
                        <a:t>, David Axmark, Allan Larsson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680436"/>
                  </a:ext>
                </a:extLst>
              </a:tr>
              <a:tr h="5215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1995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First version of MySQL released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249690"/>
                  </a:ext>
                </a:extLst>
              </a:tr>
              <a:tr h="5215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2000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Released under GNU General Public License (GPL) → became open source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752395"/>
                  </a:ext>
                </a:extLst>
              </a:tr>
              <a:tr h="5767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2001–2005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Gained popularity with LAMP stack, adopted by major websites (Yahoo, Facebook, Wikipedia, YouTube)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921151"/>
                  </a:ext>
                </a:extLst>
              </a:tr>
              <a:tr h="5215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2008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Acquired by Sun Microsystems for ~$1 billion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99365"/>
                  </a:ext>
                </a:extLst>
              </a:tr>
              <a:tr h="52155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2010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Oracle Corporation acquired Sun → MySQL becomes part of Oracle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252818"/>
                  </a:ext>
                </a:extLst>
              </a:tr>
              <a:tr h="5767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/>
                        <a:t>2010s–Present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/>
                        <a:t>Still one of the most popular RDBMS; MariaDB fork created by Monty </a:t>
                      </a:r>
                      <a:r>
                        <a:rPr lang="en-IN" dirty="0" err="1"/>
                        <a:t>Widenius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32801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83CF95AE-5926-8F4A-C78D-0B34FBBF4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58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54D2C-457C-8AD1-25BD-98CE69D1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A3D1-08F8-6FA8-C1C5-98E808507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in MySQL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B1DD52-1D98-15AA-1B07-2AA5E5FA5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07D2C-FC91-DB52-373D-71A90C0CC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6"/>
            <a:ext cx="10515600" cy="5512157"/>
          </a:xfrm>
        </p:spPr>
        <p:txBody>
          <a:bodyPr>
            <a:no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log in to a MySQL database server using the 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client tool without specifying a database name, MySQL server will set the current database to NULL.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log in to MySQL using the root user account:</a:t>
            </a:r>
          </a:p>
          <a:p>
            <a:pPr lvl="1" algn="just"/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-u root –p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will prompt you for a password:</a:t>
            </a:r>
          </a:p>
          <a:p>
            <a:pPr lvl="1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password: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log in, you need to provide the correct password of the root user account and press Enter.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display the current database ; you use the following statement: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database();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It’ll return the following: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+------------+</a:t>
            </a:r>
          </a:p>
          <a:p>
            <a:pPr marL="914400" lvl="2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database() |</a:t>
            </a:r>
          </a:p>
          <a:p>
            <a:pPr marL="914400" lvl="2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+------------+</a:t>
            </a:r>
          </a:p>
          <a:p>
            <a:pPr marL="914400" lvl="2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NULL       |</a:t>
            </a:r>
          </a:p>
          <a:p>
            <a:pPr marL="914400" lvl="2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+------------+</a:t>
            </a:r>
          </a:p>
          <a:p>
            <a:pPr marL="914400" lvl="2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row in set (0.00 sec)</a:t>
            </a:r>
          </a:p>
        </p:txBody>
      </p:sp>
    </p:spTree>
    <p:extLst>
      <p:ext uri="{BB962C8B-B14F-4D97-AF65-F5344CB8AC3E}">
        <p14:creationId xmlns:p14="http://schemas.microsoft.com/office/powerpoint/2010/main" val="3389828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8C0C6-1584-A0F5-6849-E5FF3B1F4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D265D-1740-CE4B-225E-171ECF00A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940ACE-83E2-CC41-8C0E-2AE87CB0C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112308-8169-71E3-BD9A-3D5448834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the current database is not set. If you issue a statement, MySQL will issue an error. For example: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table;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1046 (3D000): No database selected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select a database to work with, you use the USE statement: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following statement uses the USE statement to set the current database to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see the following message, it means that you have changed the database to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successfully: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changed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it, you can use the select database() statement: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database();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48781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8D27-816E-468E-2DF7-2FE39ED25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65EB-D2B4-B209-DF53-8F3131ED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62016-70B8-806D-2484-8D41A0A87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FDD8E-777B-59A9-15FC-804ECEBB7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It’ll return something like: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database()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row in set (0.00 sec)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 doesn’t exist, you’ll get the following error after executing the USE statement: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1049 (42000): Unknown database '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pPr algn="just"/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642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74EF3-FD40-AB1E-F0C9-FBF51E292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11EAD-FB26-E1C4-1967-2F31F759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67B332-BB10-ACAF-BAE1-0D7B55990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A153AF-BB73-0DD7-CE1B-A8BFFC0D2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you need to find which databases are available on your server by using the show databases statement: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DATABASES;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may look like the following: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Database       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information_schema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performance_schema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sys            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rows in set (0.02 sec)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7803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E5B59-99E3-5D69-4897-AFD2AED04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1663A-FF9E-C72F-3643-E2A2CC34E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56B8D3-F136-5FF9-0938-AC47619CA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058722-F6DA-B704-38E6-850220C5B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when you login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know which database you want to work with before you log in, you can use the -D flag.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 following command connects to the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database with the user account root:</a:t>
            </a:r>
          </a:p>
          <a:p>
            <a:pPr lvl="1" algn="just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-u root -D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–p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command, we specify the database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after the -D flag.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entering the password and logging in successfully, you can check the current database: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database(); </a:t>
            </a:r>
          </a:p>
          <a:p>
            <a:pPr marL="457200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database()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row in set (0.00 sec)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391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D56B2-5586-836A-B8B7-0613AFD0D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59ED-2147-C7A1-9555-066FB15B3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in MySQL Workbench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96F92-9995-69C6-B66A-11656F25A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5528B-0E72-CDBC-F744-A4582F3E5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connect to a MySQL Server via the MySQL Workbench application, you can select a database when you create the database connection as shown in the following screenshot: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6" name="Picture 2" descr="MySQL Select Database in MySQL Workbench">
            <a:extLst>
              <a:ext uri="{FF2B5EF4-FFF2-40B4-BE49-F238E27FC236}">
                <a16:creationId xmlns:a16="http://schemas.microsoft.com/office/drawing/2014/main" id="{D59AFE7F-0F76-0F11-FC4F-C65EE7846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455" y="1691060"/>
            <a:ext cx="6420581" cy="402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230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37671-2985-F5DA-620C-904EEDCCC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6CB2C-44AA-68D3-BFC3-DBB34B5B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42B8DE-3A71-38DD-C2AE-8525B0A56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C635C-A1B5-8974-7A51-F98E58CCC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logged in, you can select another database by issuing the USE statement or use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as Default Schema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feature provided by MySQL Workbench:</a:t>
            </a:r>
          </a:p>
          <a:p>
            <a:pPr marL="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6" name="Picture 4" descr="MySQL Select Database - change default schema">
            <a:extLst>
              <a:ext uri="{FF2B5EF4-FFF2-40B4-BE49-F238E27FC236}">
                <a16:creationId xmlns:a16="http://schemas.microsoft.com/office/drawing/2014/main" id="{2DF30BB4-08F3-823A-BF46-C995195A2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312" y="1598612"/>
            <a:ext cx="3263899" cy="4966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1676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5D706-4854-A332-15F1-15321D02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D224-F24F-2446-03B2-0D62C0C72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9C94A3-D889-1FD2-A038-CA70DACF7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E9F46-0BA4-EFD2-6FDA-807A4F403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new database in MySQL, you use the CREATE DATABASE statement.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illustrates the basic syntax of the CREATE DATABASE statement: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[IF NOT EXISTS]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database_name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[CHARACTER SET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charset_name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[COLLATE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collation_name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syntax: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specify the name of the database after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keywords. </a:t>
            </a:r>
          </a:p>
          <a:p>
            <a:pPr algn="just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name must be unique within a MySQL server instance.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attempt to create a database with an existing name, MySQL will issue an error.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use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EXISTS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option to create a database if it doesn’t exist conditionally.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specify the character set and collation for the new database.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skip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clauses, MySQL will use the default character set and collation for the new database.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218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EF42-2FCB-8F8D-BF12-BDD0DA86A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6955-10A9-5D6D-87FC-07D8E5484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D329E-FF3C-EBAC-67B4-0FF2B7F3C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8C6B26-A7C4-788B-3160-2553008D6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character set is a defined collection of symbols (like letters, numbers, punctuation, and other characters) along with their corresponding numerical encodings. 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latin1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character set primarily covers Western European languages, while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utf8mb4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(recommended for modern applications) is a more comprehensive Unicode character set that can represent a vast range of characters from nearly all languages worldwide, including emojis and special symbols.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collation is a set of rules that defines how characters within a specific character set are compared and sorted. It determines aspects such as: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sensitivity: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Whether 'A' is considered equal to 'a' (e.g., _ci for case-insensitive, _cs for case-sensitive).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Accent sensitivity: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Whether 'e' is considered equal to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(e.g., _ai for accent-insensitive, _as for accent-sensitive).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order: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specific order in which characters are arranged when sorting data.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details visit the following link:</a:t>
            </a:r>
          </a:p>
          <a:p>
            <a:pPr marL="457200" lvl="1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https://dev.mysql.com/doc/refman/8.4/en/charset-mysql.html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3616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A45D7-AA38-2659-ACB6-C6D52D4B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E7BA8-29E0-914D-9902-E9E327A72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A1FABE-03DB-1396-5F95-574E7E414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4962D-2352-D6D0-0813-403B2809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new database using the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tool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new database via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client tool, you follow these steps: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log in to the MySQL server using a user account that has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privilege:</a:t>
            </a:r>
          </a:p>
          <a:p>
            <a:pPr marL="914400" lvl="2" indent="0" algn="just">
              <a:buNone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-u root -p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It’ll prompt you to enter a password. To authenticate, you need to type the password for the root user account and press the Enter key:</a:t>
            </a:r>
          </a:p>
          <a:p>
            <a:pPr marL="914400" lvl="2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password: ********</a:t>
            </a: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3868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7078E-7BB3-1739-4A7A-00CF80774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6E14-27BB-BF40-40E4-BAE0595A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27B92-96D9-71F6-418E-76948FBBB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17FD9-501F-A649-0AC7-6B7DB16D4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Next, display the databases available on the server using the SHOW DATABASES statement.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is optional.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DATABASES;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Database       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information_schema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performance_schema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sys                |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rows in set (0.00 sec)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866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DD149-C6CB-4D33-4ABB-8C8A5546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941C-1431-4431-4C4A-C3BB1EDF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80C462-6068-0A26-666E-F39CF616A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9EAE2-74FE-29D8-E443-81D5BB2A7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execute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statement to create the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database and press Enter: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It’ll return the following: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OK, 1 row affected (0.02 sec)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that, use the SHOW CREATE DATABASE command to review the created database: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CREATE DATABASE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returns the database name and the character set and collation of the database:</a:t>
            </a:r>
          </a:p>
          <a:p>
            <a:pPr marL="457200" lvl="1" indent="0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+----------+----------------------------------------------------------------------------------------------------------------------------------+</a:t>
            </a:r>
          </a:p>
          <a:p>
            <a:pPr marL="457200" lvl="1" indent="0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Database | Create Database                                                                                                                  |</a:t>
            </a:r>
          </a:p>
          <a:p>
            <a:pPr marL="457200" lvl="1" indent="0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+----------+----------------------------------------------------------------------------------------------------------------------------------+</a:t>
            </a:r>
          </a:p>
          <a:p>
            <a:pPr marL="457200" lvl="1" indent="0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| CREATE DATABASE `</a:t>
            </a:r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/*!40100 DEFAULT CHARACTER SET utf8mb4 COLLATE utf8mb4_0900_ai_ci */ /*!80016 DEFAULT ENCRYPTION='N' */ |</a:t>
            </a:r>
          </a:p>
          <a:p>
            <a:pPr marL="457200" lvl="1" indent="0">
              <a:buNone/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+----------+----------------------------------------------------------------------------------------------------------------------------------+</a:t>
            </a:r>
          </a:p>
          <a:p>
            <a:pPr marL="457200" lvl="1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row in set (0.01 sec)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985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0E4DD-C72A-3FB4-0483-0CD0A38F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8C0F-2F87-6F88-F262-3C868681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C000DB-7859-8B47-115F-94D2E4B7B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F0628-A1B1-6EDE-6AD2-4A855F375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 select the newly created database to work with by using the USE statement: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changed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you can start creating tables and other database objects within the 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database.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quit the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program, type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command: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Bye</a:t>
            </a:r>
          </a:p>
          <a:p>
            <a:pPr algn="just"/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797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8E03-CF71-B689-0EA8-AD1149D5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3DF1-290B-31FB-CEEA-BCD0E830F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B4B129-0E12-36EB-B8F5-4ACBECCDE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AD2E2A-6C8B-53E7-5543-8994F5CD7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new database using the MySQL Workbench, you follow these steps: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launch the MySQL Workbench and click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new connection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button as shown in the following screenshot: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810063C2-CA7C-F8C6-617A-64BA475F0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816" y="1805369"/>
            <a:ext cx="4910696" cy="409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622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FC60F-C350-4D0F-2144-95361DDC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A0240-415C-2166-6AD0-76C4C0651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3FD63-C670-346B-3591-BA91B1819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23C4F-0F34-F94F-AF47-50FE4A89E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type the name for the connection and click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Connection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button.</a:t>
            </a: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8DE5A11D-2A4A-C5F7-2572-8EC837607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635" y="1384188"/>
            <a:ext cx="7008790" cy="439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4791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2A54-B269-7653-443A-23EF4A1A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7EBD-6317-79F8-C286-BA1EE2331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786C2-8EF2-2EF8-54F0-E91B3154D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4E8EF-84C3-1E7A-F28B-7EF47158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 displays a dialog asking for the password of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need to (1) type the password for the root user, (2) check the Save password in vault, and (3) click OK button.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double-click the connection name Local to connect to the MySQL Server.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92291F94-D53B-A979-278B-3F14929E7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840" y="2482582"/>
            <a:ext cx="5257800" cy="276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>
            <a:extLst>
              <a:ext uri="{FF2B5EF4-FFF2-40B4-BE49-F238E27FC236}">
                <a16:creationId xmlns:a16="http://schemas.microsoft.com/office/drawing/2014/main" id="{792FDCFB-F7FF-51E9-FF54-96F6B9DE7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554" y="2482582"/>
            <a:ext cx="3517900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77489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F0162-8437-A602-F484-CD160ECE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B6A60-8225-B371-F8CE-A4FB4B1D3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FB67F3-68E4-6D15-673B-DADE50630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6D21B3-65DC-EE9F-A4A6-90A5D10A7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Workbench opens the following window which consists of four parts: Navigator, Query, Information, and Output.</a:t>
            </a: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818" name="Picture 2">
            <a:extLst>
              <a:ext uri="{FF2B5EF4-FFF2-40B4-BE49-F238E27FC236}">
                <a16:creationId xmlns:a16="http://schemas.microsoft.com/office/drawing/2014/main" id="{016BF224-435E-453B-0E31-C5FC8512F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682" y="1381243"/>
            <a:ext cx="5052833" cy="4505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2231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32354-258E-E9AD-534E-D04A8725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921E-FB08-4AA8-3D58-1719D9941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0A3960-98E9-4059-63F7-382FC865E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E34AC-DA3D-B271-5A86-9AFAB71C1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51560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Fourth, click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schema in the connected server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button from the toolbar:</a:t>
            </a:r>
          </a:p>
          <a:p>
            <a:pPr marL="457200" lvl="1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794" name="Picture 2">
            <a:extLst>
              <a:ext uri="{FF2B5EF4-FFF2-40B4-BE49-F238E27FC236}">
                <a16:creationId xmlns:a16="http://schemas.microsoft.com/office/drawing/2014/main" id="{C1DF7E15-93DB-DC3E-DE5A-86614BAC8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284" y="1336781"/>
            <a:ext cx="3832829" cy="418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14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38134-D61C-7E21-BFD3-E737AA013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DA15-58CE-CE24-7421-596931B16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8C3D96-C217-8BF0-C2E3-9E2C3AF3D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54356-FBD1-BBF5-9FCC-462CE9C6B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4120166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MySQL, the schema is the synonym for the database.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new schema also means creating a new database.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Fifth, the following window is open.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need to (1) enter the schema name, (2) change the character set and collation if necessary, and click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button: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42" name="Picture 2">
            <a:extLst>
              <a:ext uri="{FF2B5EF4-FFF2-40B4-BE49-F238E27FC236}">
                <a16:creationId xmlns:a16="http://schemas.microsoft.com/office/drawing/2014/main" id="{7011B0F6-A72F-7BC0-3B2B-D2348A1D7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746" y="953037"/>
            <a:ext cx="6287663" cy="388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454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233B-8B88-4EBE-2703-3190CD420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81B28-84A0-35AD-540B-8D21D6E0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266A50-672E-0445-CE3A-FB3227228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75E1D8-70FF-69D0-40AA-9C503EEAD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53037"/>
            <a:ext cx="4751231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Sixth, MySQL Workbench opens the following window that displays the SQL script that will be executed.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SCHEMA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statement command has the same effect as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statement.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890" name="Picture 2">
            <a:extLst>
              <a:ext uri="{FF2B5EF4-FFF2-40B4-BE49-F238E27FC236}">
                <a16:creationId xmlns:a16="http://schemas.microsoft.com/office/drawing/2014/main" id="{DDE30101-B036-7D3C-E0F5-014D4EB09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434" y="953037"/>
            <a:ext cx="5628335" cy="425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26940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6091D-5003-782D-DD32-B07AE6821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91ACC-C229-D0C4-CBBE-83B710230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22AE74-F341-C6AE-4A35-FF0407860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4D38E4-7A89-CC60-B20A-AC12D5079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5742904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everything is fine, you will see the new database created and shown in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tab of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section.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12FECC23-F4C4-F966-D6B2-0DCA3963B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379" y="953037"/>
            <a:ext cx="3835400" cy="469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0826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66A78-964D-59C2-DCA4-FE32E97CD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3B88-D3B4-7B6C-D5E4-84E68C9B9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EA1BD2-23CE-2DEF-2FDF-17C0971A9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C14AC9-5611-7079-565C-1289AB022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5884572" cy="5257634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Seventh, to select the testdb2 database, (1) right-click the database name and (2) choose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as Default Schema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menu item: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938" name="Picture 2">
            <a:extLst>
              <a:ext uri="{FF2B5EF4-FFF2-40B4-BE49-F238E27FC236}">
                <a16:creationId xmlns:a16="http://schemas.microsoft.com/office/drawing/2014/main" id="{FAEDBC79-6E65-AB65-D749-E619B2CED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866" y="953037"/>
            <a:ext cx="3387211" cy="482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9836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B762B-3EBE-8E68-DAB8-B90C55241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DFA0-5164-4383-FA48-7B49EF00C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 Database in MySQL Workbench Cont..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71C89-6D02-2261-B267-DB27E0708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4C2FA1-942E-E43A-5FB9-278EF712C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476411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testdb2 node is open as shown in the following screenshot.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you can work with testdb2 from the MySQL Workbench.</a:t>
            </a:r>
          </a:p>
        </p:txBody>
      </p:sp>
      <p:pic>
        <p:nvPicPr>
          <p:cNvPr id="36866" name="Picture 2">
            <a:extLst>
              <a:ext uri="{FF2B5EF4-FFF2-40B4-BE49-F238E27FC236}">
                <a16:creationId xmlns:a16="http://schemas.microsoft.com/office/drawing/2014/main" id="{B2204250-0741-63FA-2814-4BE06E923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691" y="953037"/>
            <a:ext cx="3958105" cy="494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95225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28FD3-7350-1134-6467-7ABB05107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A9D3-A141-B29A-C934-8E0E1F9C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Deleting an Existing Database in MySQL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646EF2-F852-411A-DB9D-9DF6A7799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04A8FD-287E-A25E-B666-58E63B7C6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01869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DROP DATABASE statement drops all tables in the database and deletes the database permanently.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you need to be very careful when using this statement.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shows the syntax of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statement: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 [IF EXISTS]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statement, you specify the name of the database which you want to delete after the DROP DATABASE keywords.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drop a database that does not exist, MySQL will issue an error.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an error from occurring if you delete a non-existing database, you can use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EXISTS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option. In this case, MySQL will terminate the statement without issuing any error.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DROP DATABASE statement returns the number of tables it deleted.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MySQL, the schema is the synonym for the database. Therefore, you can use them interchangeably: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SCHEMA [IF EXISTS]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database_name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8815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A4CB5-825C-EFF4-BC8A-7DC6D110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397D-8C96-8580-2D2E-B7DCFCBA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Deleting an Existing Database in MySQL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5C74DB-8E79-0608-6835-DBEF46346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04A21-021B-08A4-8203-A33129C75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7584583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log in to the MySQL Server using the root user:</a:t>
            </a:r>
          </a:p>
          <a:p>
            <a:pPr marL="457200" lvl="1" indent="0" algn="just">
              <a:buNone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-u root –p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the password for the root user and press Enter.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password: ********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display all the databases using the SHOW DATABASES statement: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DATABASES; (Output shown on right side)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drop the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database by issuing the DROP DATABASE statement: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DATABASE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457200" lvl="1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OK, 0 rows affected (0.03 sec)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returned zero affected rows indicating that the 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database has no tables.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532F513-4FE0-A679-D729-FA216700E49D}"/>
              </a:ext>
            </a:extLst>
          </p:cNvPr>
          <p:cNvSpPr txBox="1">
            <a:spLocks/>
          </p:cNvSpPr>
          <p:nvPr/>
        </p:nvSpPr>
        <p:spPr>
          <a:xfrm>
            <a:off x="8950816" y="945720"/>
            <a:ext cx="2962141" cy="5223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Database           |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classicmodels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|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information_schema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|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performance_schema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sys                |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testdb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|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testdb2            |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+--------------------+</a:t>
            </a:r>
          </a:p>
          <a:p>
            <a:pPr marL="457200" lvl="1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rows in set (0.00 sec)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47675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BACF-2172-5C2D-639C-69116B244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EF4C5-5D28-D44F-A1F2-C2B806D29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Deleting an Existing Database in MySQL Workbench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FD0359-F473-E988-B051-29029FB49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5100D8-CA43-6163-07B7-78D0CE1A0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10018690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launch the MySQL workbench and log in to the MySQL Server.</a:t>
            </a:r>
          </a:p>
        </p:txBody>
      </p:sp>
      <p:pic>
        <p:nvPicPr>
          <p:cNvPr id="43010" name="Picture 2">
            <a:extLst>
              <a:ext uri="{FF2B5EF4-FFF2-40B4-BE49-F238E27FC236}">
                <a16:creationId xmlns:a16="http://schemas.microsoft.com/office/drawing/2014/main" id="{1D46A123-B7FD-0FD8-ECFC-915BEDFEA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108" y="1506023"/>
            <a:ext cx="7976230" cy="421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2660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F4EBD-393E-BA0C-F9DD-1DF63122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F51FA-F41B-1CE7-5072-01DC9C5B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Deleting an Existing Database in MySQL Workbench…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949116-1DC4-EE26-9A36-92C35E9BB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D3B636-AF54-C4C6-3616-DEE183F9B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6837608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Second, right-click the database that you want to remove, for example, testdb2 and choose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Schema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 option.</a:t>
            </a:r>
          </a:p>
        </p:txBody>
      </p:sp>
      <p:pic>
        <p:nvPicPr>
          <p:cNvPr id="45058" name="Picture 2">
            <a:extLst>
              <a:ext uri="{FF2B5EF4-FFF2-40B4-BE49-F238E27FC236}">
                <a16:creationId xmlns:a16="http://schemas.microsoft.com/office/drawing/2014/main" id="{CD0EE999-B91D-F950-0AD5-57FAA9629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5455" y="953037"/>
            <a:ext cx="3358345" cy="5122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3829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794F0-88B5-4978-4E64-3AA04989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EC8F-F76A-632A-0EA9-34BCE208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Deleting an Existing Database in MySQL Workbench…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31190-6AA0-3298-0EC9-B5C9ADD3F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CA75CB-B9BB-2838-DEC2-2F1150904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037"/>
            <a:ext cx="6322454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Third, MySQL Workbench displays a dialog to confirm the deletion.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choose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you’ll see the SQL statement that will be executed.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choose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 Now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it’ll delete the database immediately.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safe, let’s choose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SQL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2F4F1242-E43F-04DC-A5B8-166557688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613" y="3429000"/>
            <a:ext cx="3387211" cy="2463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4" name="Picture 4">
            <a:extLst>
              <a:ext uri="{FF2B5EF4-FFF2-40B4-BE49-F238E27FC236}">
                <a16:creationId xmlns:a16="http://schemas.microsoft.com/office/drawing/2014/main" id="{364963EB-F530-B919-674F-89D2B09E1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230" y="2043183"/>
            <a:ext cx="4119926" cy="299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7263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94D8D-DF0A-5BC8-DDFE-A2AB2F53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C477-E26B-989F-F1E0-0F020A33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337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Deleting an Existing Database in MySQL Workbench…</a:t>
            </a:r>
            <a:endParaRPr lang="en-IN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DAC178-11A2-2A6D-0D8F-17FBB7679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902" y="5529090"/>
            <a:ext cx="3387211" cy="1281112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967AC1-31E1-A79F-3CC0-8B3B2A6F0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53037"/>
            <a:ext cx="7610342" cy="5223926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Fourth, once you are sure that the SQL statement is going to drop the right database, you can click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button to execute the statement.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returns the following output indicating that the database is dropped successfully. Because the testdb2 is an empty database, the number of affected rows is zero.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view the schemas pane, you will see that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testdb2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not on the list anymore.</a:t>
            </a:r>
          </a:p>
        </p:txBody>
      </p:sp>
      <p:pic>
        <p:nvPicPr>
          <p:cNvPr id="47106" name="Picture 2">
            <a:extLst>
              <a:ext uri="{FF2B5EF4-FFF2-40B4-BE49-F238E27FC236}">
                <a16:creationId xmlns:a16="http://schemas.microsoft.com/office/drawing/2014/main" id="{66FAE1E0-9142-860B-1A6D-1D584EAB8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219" y="3149422"/>
            <a:ext cx="7122017" cy="108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8" name="Picture 4">
            <a:extLst>
              <a:ext uri="{FF2B5EF4-FFF2-40B4-BE49-F238E27FC236}">
                <a16:creationId xmlns:a16="http://schemas.microsoft.com/office/drawing/2014/main" id="{F39817E4-562A-D14E-CD42-133838980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377" y="1889109"/>
            <a:ext cx="2944812" cy="3639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54460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8AAA6-D7E9-40CE-A47D-63D83E16E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50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610E56-5D9B-452C-BD28-EE1C576B7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94" y="5360437"/>
            <a:ext cx="3387211" cy="128111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21B6C-77ED-3418-5FB3-9531D232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9814"/>
            <a:ext cx="10515600" cy="3214541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122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3416</Words>
  <Application>Microsoft Macintosh PowerPoint</Application>
  <PresentationFormat>Widescreen</PresentationFormat>
  <Paragraphs>496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Introduction to SQL</vt:lpstr>
      <vt:lpstr>Topics to be Covered</vt:lpstr>
      <vt:lpstr>Introduction to SQL</vt:lpstr>
      <vt:lpstr>SQL Building Blocks</vt:lpstr>
      <vt:lpstr>SQL Building Blocks</vt:lpstr>
      <vt:lpstr>Data Definition Language (DDL)</vt:lpstr>
      <vt:lpstr>Data Manipulation Language (DML)</vt:lpstr>
      <vt:lpstr>Data Query Language (DQL)</vt:lpstr>
      <vt:lpstr>Data Control Language (DCL)</vt:lpstr>
      <vt:lpstr>Transaction Control Language (TCL)</vt:lpstr>
      <vt:lpstr>Constraints (Integrity Rules)</vt:lpstr>
      <vt:lpstr>SQL Data Types</vt:lpstr>
      <vt:lpstr> Numeric Data Types</vt:lpstr>
      <vt:lpstr>Character/String Data Types</vt:lpstr>
      <vt:lpstr> Date &amp; Time Data Types</vt:lpstr>
      <vt:lpstr>Binary Data Types</vt:lpstr>
      <vt:lpstr>Other Special Data Types</vt:lpstr>
      <vt:lpstr>RDBMS using SQL</vt:lpstr>
      <vt:lpstr>Introduction to MySQL</vt:lpstr>
      <vt:lpstr>History of MySQL</vt:lpstr>
      <vt:lpstr>Selecting a Database in MySQL</vt:lpstr>
      <vt:lpstr>Selecting a Database in MySQL Cont..</vt:lpstr>
      <vt:lpstr>Selecting a Database in MySQL Cont..</vt:lpstr>
      <vt:lpstr>Selecting a Database in MySQL Cont..</vt:lpstr>
      <vt:lpstr>Selecting a Database in MySQL Cont..</vt:lpstr>
      <vt:lpstr>Selecting a Database in MySQL Workbench</vt:lpstr>
      <vt:lpstr>Selecting a Database in MySQL Workbench Cont..</vt:lpstr>
      <vt:lpstr>Creating a Database in MySQL</vt:lpstr>
      <vt:lpstr>Creating a Database in MySQL Cont..</vt:lpstr>
      <vt:lpstr>Creating a Database in MySQL Cont..</vt:lpstr>
      <vt:lpstr>Creating a Database in MySQL Cont..</vt:lpstr>
      <vt:lpstr>Creating a Database in MySQL Cont..</vt:lpstr>
      <vt:lpstr>Creating a Database in MySQL Cont..</vt:lpstr>
      <vt:lpstr>Creating a Database in MySQL Workbench</vt:lpstr>
      <vt:lpstr>Creating a Database in MySQL Workbench Cont..</vt:lpstr>
      <vt:lpstr>Creating a Database in MySQL Workbench Cont..</vt:lpstr>
      <vt:lpstr>Creating a Database in MySQL Workbench Cont..</vt:lpstr>
      <vt:lpstr>Creating a Database in MySQL Workbench Cont..</vt:lpstr>
      <vt:lpstr>Creating a Database in MySQL Workbench Cont..</vt:lpstr>
      <vt:lpstr>Creating a Database in MySQL Workbench Cont..</vt:lpstr>
      <vt:lpstr>Creating a Database in MySQL Workbench Cont..</vt:lpstr>
      <vt:lpstr>Creating a Database in MySQL Workbench Cont..</vt:lpstr>
      <vt:lpstr>Creating a Database in MySQL Workbench Cont..</vt:lpstr>
      <vt:lpstr>Deleting an Existing Database in MySQL</vt:lpstr>
      <vt:lpstr>Deleting an Existing Database in MySQL</vt:lpstr>
      <vt:lpstr>Deleting an Existing Database in MySQL Workbench</vt:lpstr>
      <vt:lpstr>Deleting an Existing Database in MySQL Workbench…</vt:lpstr>
      <vt:lpstr>Deleting an Existing Database in MySQL Workbench…</vt:lpstr>
      <vt:lpstr>Deleting an Existing Database in MySQL Workbench…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DBMS</dc:title>
  <dc:creator>Sree Lakshmi P</dc:creator>
  <cp:lastModifiedBy>Aftab Yaseen</cp:lastModifiedBy>
  <cp:revision>215</cp:revision>
  <dcterms:created xsi:type="dcterms:W3CDTF">2023-06-10T06:49:54Z</dcterms:created>
  <dcterms:modified xsi:type="dcterms:W3CDTF">2025-08-18T06:38:49Z</dcterms:modified>
</cp:coreProperties>
</file>