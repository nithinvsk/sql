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02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40"/>
    <p:restoredTop sz="94682"/>
  </p:normalViewPr>
  <p:slideViewPr>
    <p:cSldViewPr snapToGrid="0">
      <p:cViewPr varScale="1">
        <p:scale>
          <a:sx n="84" d="100"/>
          <a:sy n="84" d="100"/>
        </p:scale>
        <p:origin x="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348B-61CB-F3DE-2858-22DEDC142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CB665-9C3F-45E7-B3E3-63EA67FD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8DDEC-133A-7BCE-716E-9DC900D1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C71DC-ADF6-1915-04CB-5A3ECF5F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7737C-E350-F403-6409-3ECD67F0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3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1D77-F3F9-F121-5729-612358B0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53A0-68EF-2564-5E48-41D282FE7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7EC03-04BC-BDE7-9DA2-B77AE48A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1097D-3A2C-613B-598B-35BD14DE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7AA3-702A-6F85-8F41-6F221887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2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550B-E43F-89A4-C2A0-57B79244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8F86A-3963-5C53-19F5-DE4657B0F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9FE59-60E7-CC0C-3587-94A1E3FB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8ECB6-D9ED-BF18-D643-5DCE1381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AE17-4A2F-E59D-FE70-0BCF97A8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2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834-4474-2E74-3A04-E8202617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F45A-EC91-BC08-E655-7662E9629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2EB02-D7C5-F2C9-2434-7B6E5A19C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13BAE-DA3C-2793-735A-CD1F4A1B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52EB8-9500-2FD5-7E73-262ACD6D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70D15-A22F-3E2B-D96F-460DA265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4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44A3-0075-AF94-D416-7AA4DC0A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EDA7C-4665-11C8-B300-882D97E16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FA4FC-DEE0-8832-F6BC-49EAE4E74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DD4A5-4C16-C34A-CD81-3EEC51755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DB905-FCDC-3A37-39DA-3FDBF06ED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CADEA-6D2F-6458-1187-0839AED3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6B728-91CE-EDFC-7192-8109F2E4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DB86A-F5D4-00CD-7CE9-5E975F29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7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8C8F-D778-CD49-5F62-6EAE89C9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BBD5F-E12A-238B-7450-BB38DD2C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F0799-77C1-1EC5-B0FC-ED8E6390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E095A-3DAF-6E85-DE10-653DA48C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71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CE990-31A6-8421-FD33-D5CC7F21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361F8-EB0F-B731-62F0-5702CFDE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D100B-6F4B-BA96-2BEA-413D7341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2687-58D5-268C-32E1-454CEC55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D950-AE31-978F-8364-BC8B598F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8C4C0-5B9C-416D-4851-9136E8C63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78E4F-AEA4-A8A7-1C2B-1D2BE13D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F8E0F-BBA5-1AF6-EB96-55271C27C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1A7D2-8C03-5347-6C75-9A19751B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A9A9-8B8B-721E-5E6A-BBDDFE93A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A707A-B49E-F05A-A0FB-AE09297AF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7F95-C2AC-2732-0B6C-8D906DCE0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E9FBB-2B13-1D73-F794-646E709E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B6912-3442-60E8-CB68-3A36B7EA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49562-6BEF-AB9E-AA6D-33A7B242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5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5C19-DCFF-CFE3-38FC-D2B3BB37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75EAB-7E81-4FD5-526C-541A6C3BE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578D4-9A5E-10E0-2C55-D9AAA509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EC8B-4102-C353-2A5A-5ADC5048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5258-709F-BB03-2830-655C69CF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904F1-F42C-8703-E47F-22BCA80D6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A78C-A806-4F00-8A28-65D8ECE1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C48B3-D0BB-A9FA-F3E3-E10DE787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BE1CC-E0F9-46DA-A0A0-2EA0C433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E6499-5B6C-8780-D758-EA2043A4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9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BEAC-1027-7516-F0C2-A7ED44F1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0A10D-7230-1505-1C18-DB57309E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98768-E2EC-FBEC-1586-05374E8DE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63A93-960E-8D43-8186-3CC3617F5C6E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4A23-D3FF-9CCF-85C8-43C815037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6FCC1-4BBF-5AA6-B42C-ACECACCAD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B394D-51CB-A34C-81E7-BD98B0D8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D3B6-D678-153F-0C36-4FAEADF80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585" y="1418929"/>
            <a:ext cx="9144000" cy="192758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Commands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F9A70-D5A4-6644-22AA-ACBA20880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3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42BB-7752-1B1F-8B64-51C9B31C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B14B-F7D3-D53F-2E14-9C0D89D8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1816-17C1-41C7-F12C-19D714F63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4"/>
            <a:ext cx="10515600" cy="4895849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 (Data Definition Language) commands are used to define and manage database structure such as databases, tables, indexes, and constraints.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deal with data itself, but with the schema (structure).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DDL commands are: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BC3B3-AA5C-5B0F-B47C-8B4495D07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9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4C6C-8DBF-B7E7-8495-D7BC84B0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62D4-9F3A-25F7-5769-644957D8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A70C7-76E5-ADAD-CEC6-2E3F4D02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4"/>
            <a:ext cx="10515600" cy="4895849"/>
          </a:xfrm>
        </p:spPr>
        <p:txBody>
          <a:bodyPr>
            <a:normAutofit/>
          </a:bodyPr>
          <a:lstStyle/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1DBE61-211A-E19C-0DDD-47754EF8A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129886"/>
              </p:ext>
            </p:extLst>
          </p:nvPr>
        </p:nvGraphicFramePr>
        <p:xfrm>
          <a:off x="965914" y="1281114"/>
          <a:ext cx="10387885" cy="4584790"/>
        </p:xfrm>
        <a:graphic>
          <a:graphicData uri="http://schemas.openxmlformats.org/drawingml/2006/table">
            <a:tbl>
              <a:tblPr/>
              <a:tblGrid>
                <a:gridCol w="1210369">
                  <a:extLst>
                    <a:ext uri="{9D8B030D-6E8A-4147-A177-3AD203B41FA5}">
                      <a16:colId xmlns:a16="http://schemas.microsoft.com/office/drawing/2014/main" val="4139491854"/>
                    </a:ext>
                  </a:extLst>
                </a:gridCol>
                <a:gridCol w="2272149">
                  <a:extLst>
                    <a:ext uri="{9D8B030D-6E8A-4147-A177-3AD203B41FA5}">
                      <a16:colId xmlns:a16="http://schemas.microsoft.com/office/drawing/2014/main" val="1723301937"/>
                    </a:ext>
                  </a:extLst>
                </a:gridCol>
                <a:gridCol w="5041557">
                  <a:extLst>
                    <a:ext uri="{9D8B030D-6E8A-4147-A177-3AD203B41FA5}">
                      <a16:colId xmlns:a16="http://schemas.microsoft.com/office/drawing/2014/main" val="2596200119"/>
                    </a:ext>
                  </a:extLst>
                </a:gridCol>
                <a:gridCol w="1863810">
                  <a:extLst>
                    <a:ext uri="{9D8B030D-6E8A-4147-A177-3AD203B41FA5}">
                      <a16:colId xmlns:a16="http://schemas.microsoft.com/office/drawing/2014/main" val="1062091337"/>
                    </a:ext>
                  </a:extLst>
                </a:gridCol>
              </a:tblGrid>
              <a:tr h="6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041240"/>
                  </a:ext>
                </a:extLst>
              </a:tr>
              <a:tr h="109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Creates a new database or table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CREATE DATABASE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db_name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12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CREATE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(col1 datatype, col2 datatype, ...);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CREATE TABLE Students (ID INT PRIMARY KEY, Name VARCHAR(50), Age INT);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962356"/>
                  </a:ext>
                </a:extLst>
              </a:tr>
              <a:tr h="743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ALTER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Modifies an existing table structure (add, modify, drop columns)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ADD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column_name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datatype;</a:t>
                      </a:r>
                      <a:r>
                        <a:rPr lang="en-IN" sz="12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MODIFY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column_name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datatype;</a:t>
                      </a:r>
                      <a:r>
                        <a:rPr lang="en-IN" sz="12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ALTER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DROP COLUMN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column_name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ALTER TABLE Students ADD Email VARCHAR(100);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789343"/>
                  </a:ext>
                </a:extLst>
              </a:tr>
              <a:tr h="6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DROP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Permanently deletes a table or database (structure + data)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DROP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12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DROP DATABASE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db_name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DROP TABLE Students;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62037"/>
                  </a:ext>
                </a:extLst>
              </a:tr>
              <a:tr h="658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TRUNCATE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Removes all rows from a table but keeps structure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TRUNCATE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TRUNCATE TABLE Students;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80422"/>
                  </a:ext>
                </a:extLst>
              </a:tr>
              <a:tr h="743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RENAME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Renames a table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RENAME TABLE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old_name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 TO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new_name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RENAME TABLE Students TO </a:t>
                      </a:r>
                      <a:r>
                        <a:rPr lang="en-IN" sz="1200" dirty="0" err="1">
                          <a:latin typeface="Courier New" panose="02070309020205020404" pitchFamily="49" charset="0"/>
                        </a:rPr>
                        <a:t>CollegeStudents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2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868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354DA2-D357-4483-BCB0-FC74022F6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EA4A-FFBD-2D12-456C-957A8356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6185-92E0-303B-9C40-B898E60A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BE5E-69B4-4659-1BB6-AF7B7E5B5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4"/>
            <a:ext cx="4686837" cy="489584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and create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databases, tables, views, indexes, and other schema objects.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specified columns and constraints.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keys, unique constraints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creating.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3DBDB9-E891-5655-AE4E-29357BC5FA10}"/>
              </a:ext>
            </a:extLst>
          </p:cNvPr>
          <p:cNvSpPr txBox="1">
            <a:spLocks/>
          </p:cNvSpPr>
          <p:nvPr/>
        </p:nvSpPr>
        <p:spPr>
          <a:xfrm>
            <a:off x="5950039" y="1185070"/>
            <a:ext cx="5555960" cy="48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NULL,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 INT CHECK (Age &gt;= 18),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VARCHAR(30),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 UNIQUE</a:t>
            </a:r>
          </a:p>
          <a:p>
            <a:pPr marL="457200" lvl="1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Students table with constraints:</a:t>
            </a:r>
          </a:p>
          <a:p>
            <a:pPr marL="914400" lvl="2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→ Ensures unique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2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 → Name must be entered.</a:t>
            </a:r>
          </a:p>
          <a:p>
            <a:pPr marL="914400" lvl="2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→ Age must be at least 18.</a:t>
            </a:r>
          </a:p>
          <a:p>
            <a:pPr marL="914400" lvl="2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→ No duplicate emails.</a:t>
            </a:r>
          </a:p>
          <a:p>
            <a:pPr marL="914400" lvl="2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A4739-945C-53CE-CE8F-6E97A7DA7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9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76822-EBC2-5B69-455B-76C5C7F3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0ABD-4AF6-5CDB-193E-DB7AB609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14A5B-BB93-5A1A-6B4F-AEF889AA0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4"/>
            <a:ext cx="4686837" cy="489584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an existing 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creation.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columns.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datatype of existing columns.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(delete) columns.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Add/remove constraints (like primary key, foreign key).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new column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VARCHAR(15);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67EFA6-541D-73E2-BC0E-3BD4B1C5A852}"/>
              </a:ext>
            </a:extLst>
          </p:cNvPr>
          <p:cNvSpPr txBox="1">
            <a:spLocks/>
          </p:cNvSpPr>
          <p:nvPr/>
        </p:nvSpPr>
        <p:spPr>
          <a:xfrm>
            <a:off x="5950039" y="1185070"/>
            <a:ext cx="5555960" cy="48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datatype of a column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Age SMALLINT;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a column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COLUMN Department;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primary key (if missing)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PRIMARY KEY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ECBE6F-A28C-51B1-A95B-D50FF4A27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3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2440-E999-6815-55B0-0C0D6986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B65E-448D-E5A5-15C5-5D9A62AE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4D87-1911-1A21-6A68-13C2AE619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86" y="1185070"/>
            <a:ext cx="10540313" cy="499189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an object completely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(database, table, view, index).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both structure and data permanently.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a table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Students;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a 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DROP and DELETE/TRUNCATE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→ Deletes table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+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→ Deletes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but keeps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→ Deletes data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by row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use WHERE.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A904B7-2F4A-FF4D-22F1-04DDBF7A45E3}"/>
              </a:ext>
            </a:extLst>
          </p:cNvPr>
          <p:cNvSpPr txBox="1">
            <a:spLocks/>
          </p:cNvSpPr>
          <p:nvPr/>
        </p:nvSpPr>
        <p:spPr>
          <a:xfrm>
            <a:off x="5950039" y="1185070"/>
            <a:ext cx="5555960" cy="48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56D59-DB08-12E9-AD8E-A6496DE1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2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E9FD-3191-0A4E-5155-A77366F9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5463-A38A-E595-86C6-D99D2B3F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002D2-1BBE-C43B-F1C0-EFC77A475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86" y="1185070"/>
            <a:ext cx="10540313" cy="499189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all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table, but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the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use.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DELETE (no row-by-row logging).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use WHERE with TRUNCATE.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TABLE Students;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all student records, but the Students table still exists (with empty rows).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to clear the data quickly but keep the table design.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0E4486-ED28-2B5E-A20C-1053FFEA6576}"/>
              </a:ext>
            </a:extLst>
          </p:cNvPr>
          <p:cNvSpPr txBox="1">
            <a:spLocks/>
          </p:cNvSpPr>
          <p:nvPr/>
        </p:nvSpPr>
        <p:spPr>
          <a:xfrm>
            <a:off x="5950039" y="1185070"/>
            <a:ext cx="5555960" cy="48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2298F-6A6F-ACA5-AE55-0E39CDE38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3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B6F8-7B74-2D75-69E7-3E080518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B357-470A-AB74-84E3-B18C440F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5D4B-1EF0-3F3E-05A8-799B125B6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86" y="1185070"/>
            <a:ext cx="10540313" cy="499189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a 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TABLE Students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this, Students is now called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some databases, you can also use: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 RENAME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5800C8-BD8A-7CA4-AC5C-44978A31F40B}"/>
              </a:ext>
            </a:extLst>
          </p:cNvPr>
          <p:cNvSpPr txBox="1">
            <a:spLocks/>
          </p:cNvSpPr>
          <p:nvPr/>
        </p:nvSpPr>
        <p:spPr>
          <a:xfrm>
            <a:off x="5950039" y="1185070"/>
            <a:ext cx="5555960" cy="489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7EB45-314A-FFF7-A1FD-E7DF0A0A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1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9568-3496-331A-2CD2-39CBC151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9898-5E95-90FD-ED77-F70FD49F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921BEA-2E16-A3E1-6F8A-AAC3A70DA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136092"/>
              </p:ext>
            </p:extLst>
          </p:nvPr>
        </p:nvGraphicFramePr>
        <p:xfrm>
          <a:off x="986480" y="1297459"/>
          <a:ext cx="9405552" cy="3793524"/>
        </p:xfrm>
        <a:graphic>
          <a:graphicData uri="http://schemas.openxmlformats.org/drawingml/2006/table">
            <a:tbl>
              <a:tblPr/>
              <a:tblGrid>
                <a:gridCol w="2048642">
                  <a:extLst>
                    <a:ext uri="{9D8B030D-6E8A-4147-A177-3AD203B41FA5}">
                      <a16:colId xmlns:a16="http://schemas.microsoft.com/office/drawing/2014/main" val="3105999875"/>
                    </a:ext>
                  </a:extLst>
                </a:gridCol>
                <a:gridCol w="3433983">
                  <a:extLst>
                    <a:ext uri="{9D8B030D-6E8A-4147-A177-3AD203B41FA5}">
                      <a16:colId xmlns:a16="http://schemas.microsoft.com/office/drawing/2014/main" val="1308957098"/>
                    </a:ext>
                  </a:extLst>
                </a:gridCol>
                <a:gridCol w="3922927">
                  <a:extLst>
                    <a:ext uri="{9D8B030D-6E8A-4147-A177-3AD203B41FA5}">
                      <a16:colId xmlns:a16="http://schemas.microsoft.com/office/drawing/2014/main" val="520500752"/>
                    </a:ext>
                  </a:extLst>
                </a:gridCol>
              </a:tblGrid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Effect 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Effect on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271836"/>
                  </a:ext>
                </a:extLst>
              </a:tr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new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Adds new database/table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572857"/>
                  </a:ext>
                </a:extLst>
              </a:tr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Modifies existing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658012"/>
                  </a:ext>
                </a:extLst>
              </a:tr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Deletes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216184"/>
                  </a:ext>
                </a:extLst>
              </a:tr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TRUNCATE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Keeps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71049"/>
                  </a:ext>
                </a:extLst>
              </a:tr>
              <a:tr h="632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Just changes table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18736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0EC205E-8D5D-B7D5-8CD4-071B7958F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0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C248-7F5C-39C3-1F3E-D85F7FC9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E567-BA97-AEE6-916D-9A40F176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Database with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960E3-7BD7-D246-1C78-D921958DF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962"/>
            <a:ext cx="4969476" cy="4966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create a database and tables for students, teachers, and courses.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Create a new database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Use the new database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Create Students table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NULL,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 INT CHECK (Age &gt;= 18),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VARCHAR(30),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 UNIQUE</a:t>
            </a:r>
          </a:p>
          <a:p>
            <a:pPr marL="9144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58A84E3-9FAA-7626-D7D1-8BB0BD31FFBC}"/>
              </a:ext>
            </a:extLst>
          </p:cNvPr>
          <p:cNvSpPr txBox="1">
            <a:spLocks/>
          </p:cNvSpPr>
          <p:nvPr/>
        </p:nvSpPr>
        <p:spPr>
          <a:xfrm>
            <a:off x="6384326" y="1210962"/>
            <a:ext cx="4969474" cy="4966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Create Teachers table</a:t>
            </a:r>
          </a:p>
          <a:p>
            <a:pPr marL="457200" lvl="1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Teachers (</a:t>
            </a:r>
          </a:p>
          <a:p>
            <a:pPr marL="457200" lvl="1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TeacherID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NULL,</a:t>
            </a:r>
          </a:p>
          <a:p>
            <a:pPr marL="457200" lvl="1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Subject VARCHAR(30)</a:t>
            </a:r>
          </a:p>
          <a:p>
            <a:pPr marL="457200" lvl="1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Create Courses table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Courses (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TeacherID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TeacherID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Teachers(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TeacherID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9AE77-1480-74E9-CBE3-17733EC92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84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C489-FC14-E0F8-6CD3-FCE1F20A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C0D5-8080-0A94-6561-A8E7833E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Database with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D9D79-8336-C5D4-3C07-05E96258F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88A1F2-15B5-818C-8C38-4B273966E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108"/>
            <a:ext cx="9899822" cy="5064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ALTER – Modify Structure: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need to make some changes: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Add a new column to Students table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VARCHAR(15);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Change datatype of Age (make it SMALLINT)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Age SMALLINT;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Drop the Department column (no longer needed)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COLUMN Department;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Add a constraint later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Courses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unique_course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4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BA0C-CE43-C6BE-CE7E-09087EF3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C0A5-5A77-7CD0-E219-850CC1DB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Database with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EBBBB2-E40B-E241-1834-6F2500205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108"/>
            <a:ext cx="9640330" cy="5064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RENAME 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Rename Tables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school decides to rename the tables: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Rename Students table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TABLE Students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Rename Teachers table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Teachers RENAME TO Faculty;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tables are renamed: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Faculty, Courses.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TRUNCATE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academic year, we want to clear old student data but keep the table: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TABLE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student records are removed, but the table still exists.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0B0BA2-EE26-318A-EC7A-082024315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75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CC58-DC83-78BD-B81C-E2D2F42C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751C-E448-FC7A-D7B0-561E1733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Database with DDL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A00343-D6F5-D00B-57C4-A3D772391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DROP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Tables/Database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school shuts down or we no longer need the database: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the Courses table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Courses;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Drop the entire database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deletes everything permanently.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9575D-08DC-4846-B34E-729581BA1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9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8B1F-1ABD-9269-72CB-FA48653B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3A0D-B57C-DDFF-8F77-54337C861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DML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E0FD6-F200-E419-7BBF-59F161A01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(Data Manipulation Language) commands are used to manage and manipulate data records stored within database tables. 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operate on the data itself, rather than the structure of the database objects.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main DML commands are:</a:t>
            </a:r>
          </a:p>
          <a:p>
            <a:pPr marL="457200" lvl="1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→ Add new records</a:t>
            </a:r>
          </a:p>
          <a:p>
            <a:pPr marL="457200" lvl="1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→ Retrieve records</a:t>
            </a:r>
          </a:p>
          <a:p>
            <a:pPr marL="457200" lvl="1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→ Modify existing records</a:t>
            </a:r>
          </a:p>
          <a:p>
            <a:pPr marL="457200" lvl="1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→ Remove records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D3D8B-12CF-EA29-60B0-9C11281CE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9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76F4-34DD-1944-CAD7-EE398D24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9C3-544E-D7F0-CA50-DFB7B615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DML Commands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F0DC0C-DEA4-D782-0F80-C8B571939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703135"/>
              </p:ext>
            </p:extLst>
          </p:nvPr>
        </p:nvGraphicFramePr>
        <p:xfrm>
          <a:off x="963825" y="1296987"/>
          <a:ext cx="10639169" cy="4560116"/>
        </p:xfrm>
        <a:graphic>
          <a:graphicData uri="http://schemas.openxmlformats.org/drawingml/2006/table">
            <a:tbl>
              <a:tblPr/>
              <a:tblGrid>
                <a:gridCol w="1383959">
                  <a:extLst>
                    <a:ext uri="{9D8B030D-6E8A-4147-A177-3AD203B41FA5}">
                      <a16:colId xmlns:a16="http://schemas.microsoft.com/office/drawing/2014/main" val="807436249"/>
                    </a:ext>
                  </a:extLst>
                </a:gridCol>
                <a:gridCol w="2266615">
                  <a:extLst>
                    <a:ext uri="{9D8B030D-6E8A-4147-A177-3AD203B41FA5}">
                      <a16:colId xmlns:a16="http://schemas.microsoft.com/office/drawing/2014/main" val="1247132756"/>
                    </a:ext>
                  </a:extLst>
                </a:gridCol>
                <a:gridCol w="3293925">
                  <a:extLst>
                    <a:ext uri="{9D8B030D-6E8A-4147-A177-3AD203B41FA5}">
                      <a16:colId xmlns:a16="http://schemas.microsoft.com/office/drawing/2014/main" val="3473127716"/>
                    </a:ext>
                  </a:extLst>
                </a:gridCol>
                <a:gridCol w="3694670">
                  <a:extLst>
                    <a:ext uri="{9D8B030D-6E8A-4147-A177-3AD203B41FA5}">
                      <a16:colId xmlns:a16="http://schemas.microsoft.com/office/drawing/2014/main" val="1959703926"/>
                    </a:ext>
                  </a:extLst>
                </a:gridCol>
              </a:tblGrid>
              <a:tr h="867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92538"/>
                  </a:ext>
                </a:extLst>
              </a:tr>
              <a:tr h="1090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INSERT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new rows of data into a table.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INSERT INTO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 (col1, col2, ...) VALUES (val1, val2, ...);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INSERT INTO Students (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StudentID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, Name, Age, Department, Email) VALUES (101, ‘ABC', 20, 'Computer Science', ‘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abc@example.com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');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66338"/>
                  </a:ext>
                </a:extLst>
              </a:tr>
              <a:tr h="867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SELECT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Retrieves data from one or more tables.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SELECT col1, col2 FROM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table_name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 WHERE condition;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SELECT Name, Email FROM Students WHERE Department = 'Computer Science';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537671"/>
                  </a:ext>
                </a:extLst>
              </a:tr>
              <a:tr h="867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UPDATE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Modifies existing rows of data in a table.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UPDATE table_name SET col1 = val1, col2 = val2 WHERE condition;</a:t>
                      </a:r>
                      <a:endParaRPr lang="en-IN" sz="140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UPDATE Students SET Email = ‘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abc_new@example.com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' WHERE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StudentID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 = 101;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580096"/>
                  </a:ext>
                </a:extLst>
              </a:tr>
              <a:tr h="867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rows of data from a table.</a:t>
                      </a:r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DELETE FROM table_name WHERE condition;</a:t>
                      </a:r>
                      <a:endParaRPr lang="en-IN" sz="140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DELETE FROM Students WHERE Department = 'Physics';</a:t>
                      </a:r>
                      <a:endParaRPr lang="en-IN" sz="1400" dirty="0"/>
                    </a:p>
                  </a:txBody>
                  <a:tcPr marL="56744" marR="56744" marT="28372" marB="28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843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51D89CD-4DAB-0FDA-0509-5F1123DF5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55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CA04-1BF4-D9D7-501F-102A5C00E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BF45-943D-DBD8-4178-CC3BA836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744135-7268-6757-B4EC-F9313EFBF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4598773" cy="4879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let’s create a table (using DDL command) to use for our DML examples: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 INT,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VARCHAR(30),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AF216-EA44-DA6D-7F4B-DA4FCBDBA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44D5800-24FD-7A54-85E0-97D16FE07C33}"/>
              </a:ext>
            </a:extLst>
          </p:cNvPr>
          <p:cNvSpPr txBox="1">
            <a:spLocks/>
          </p:cNvSpPr>
          <p:nvPr/>
        </p:nvSpPr>
        <p:spPr>
          <a:xfrm>
            <a:off x="5647037" y="1297459"/>
            <a:ext cx="6190735" cy="4879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Inserts new rows into a table.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Insert one record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Age, Department, Email)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(101, ‘ABC', 20, 'Computer Science',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Insert multiple records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Age, Department, Email)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(102, ‘XYZ', 21, 'Mathematics',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xyz@example.com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(103, ‘PQR', 19, 'Physics',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pqr@example.com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802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EB4E-1503-7F91-2DD8-BEAE8834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B2CD-0DD0-F9FE-F50B-15876E7F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47552B-481E-73A3-1ACE-BDB1DE03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query data from one or more tables.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all data: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only names and departments: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Department FROM Students;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students older than 20: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Age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Age &gt; 20;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students from Computer Science: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'Computer Science';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52F76C-895E-CC43-019C-486A136AE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1A9C-2E30-4B20-9FC2-81FDB5A2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6615-5FDA-8882-E631-BD0EE268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E76EEA-CEEC-C5D3-DD61-D14E127BC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change existing values in one or more columns.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one student’s email: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Email =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abc_new@example.com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all students’ ages by 1 year: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Age = Age + 1;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used, all rows will be updated.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B0325-DC22-8D94-CA6F-C8CA48514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40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3E35-C5F1-23DD-13F4-AE063308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E66A-4B05-A9A3-C43D-1D682706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Command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BF81C9-AC0F-B54D-5A61-EDA5B2C1E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delete one or more rows from a table.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one student by ID: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103;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all students from Physics department: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'Physics';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all rows (table becomes empty but structure remains):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careful without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will remove all rows.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DC51E-49AB-E313-A858-F113B2D19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9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DF14-E232-AFCE-DD94-1D49D7B1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FD3C-896E-43CE-35E8-C9863F4E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Admissions Management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4F22CD-4CE5-FF97-1688-5521C583F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already have a database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Students table: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 INT,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VARCHAR(30),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1189F-535A-61C8-ACB5-CF1CEC85A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20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9D59-D967-E4D1-BE9A-3F226644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7BF0-8E2B-ED93-30C9-84BC46CE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Admissions Management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2FC374-89FD-5466-DC63-30618BCD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INSERT – New Admissions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new students join the school, we add their data.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Age, Department, Email)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(101, ‘ABC', 20, 'Computer Science',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(102, ‘XYZ', 21, 'Mathematics',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xyz@example.com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(103, ‘PQR', 19, 'Physics',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pqr@example.com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(104, ‘UVW', 22, 'Computer Science', 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uvw@example.com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table has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78A066-A31D-EA73-5941-627205DBB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34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B2DC-FC6A-7A7D-A02E-7833E723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C394-DE42-46B1-9396-00A1B5CA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Admissions Management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F79726-6484-D5D2-8A8E-586CE87E2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– Viewing Records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school admin wants to see specific details.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View all student records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View only names and departments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Department FROM Students;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Computer Science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Email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'Computer Science';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older than 20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Age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Age &gt; 20;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D3E0F-6C3D-7433-F86E-3B374220C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77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ACAE6-6376-6901-8FA0-AA418356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25FA-387D-DCF6-8993-BEAA0191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Admissions Management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09B4DB-CBD2-8488-4C26-7A030C80D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– Correcting/Modifying Records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student details change (new email, updated age, etc.).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Update email of ABC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Email = ‘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abc_new@example.com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Increase all students’ age by 1 (new academic year)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Age = Age + 1;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8D6F6-45AC-0434-02B1-9CAD4D67E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64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2E1E-A88A-5ECB-B417-4360D7C5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065C-5A01-E736-0A1C-FCC00819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School Admissions Management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6AFCA6-7719-79B7-067F-057452C66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9640330" cy="487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DELETE – Removing Records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students leave the school, their records are removed.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Delete a student by ID (PQR leaves)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103;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Delete all students from Mathematics department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'Mathematics’;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students leave.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3684A7-74B4-28A6-E072-EC5654DFE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5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0A49-0673-826C-B2DB-FBC14B72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BE71-C88C-885E-FCAE-626A5EC6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SQL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BE42A3-3FAE-54A0-35E8-F45D88EFE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3"/>
            <a:ext cx="4953000" cy="5040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NOT NULL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 column cannot have NULL values.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NOT NULL,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 NOT NULL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UNIQUE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all values in a column are unique.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 UNIQUE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D0A83-3C1E-2870-4405-2158A9EC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D515A61-4D6E-9316-1406-B1E0689EC2B8}"/>
              </a:ext>
            </a:extLst>
          </p:cNvPr>
          <p:cNvSpPr txBox="1">
            <a:spLocks/>
          </p:cNvSpPr>
          <p:nvPr/>
        </p:nvSpPr>
        <p:spPr>
          <a:xfrm>
            <a:off x="6116781" y="1136073"/>
            <a:ext cx="4953000" cy="5040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PRIMARY KEY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identifies each row in a table.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NOT NULL + UNIQUE.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VARCHAR(50)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11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06CB-8463-AC7E-31A4-5675F901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70272-0B47-68C5-38F5-2FEFEAF6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SQL Cont..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618CEA-9FB4-2FD5-2B5A-B18AB64C6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7638"/>
            <a:ext cx="5895110" cy="5040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FOREIGN KEY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a column in one table to the PRIMARY KEY of another table (relationship).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Courses (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Students(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7A6C1-2893-E904-63A6-DB892CC94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2D40D9E-17A8-9B22-3AE4-80868D0BD24C}"/>
              </a:ext>
            </a:extLst>
          </p:cNvPr>
          <p:cNvSpPr txBox="1">
            <a:spLocks/>
          </p:cNvSpPr>
          <p:nvPr/>
        </p:nvSpPr>
        <p:spPr>
          <a:xfrm>
            <a:off x="6941129" y="1177638"/>
            <a:ext cx="4253343" cy="5040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CHECK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values meet a condition.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 INT CHECK (Age &gt;= 18)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DEFAULT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default value if no value is given.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AdmissionDate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DEFAULT (CURRENT_DATE)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81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F74E-EAFC-E96A-C6EB-422C022D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05B1-20C2-8DD3-5D31-7462BA08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SQL Summary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AE7D02-5E92-9222-769C-9399EAF23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673577"/>
              </p:ext>
            </p:extLst>
          </p:nvPr>
        </p:nvGraphicFramePr>
        <p:xfrm>
          <a:off x="990600" y="1236128"/>
          <a:ext cx="10515599" cy="4345293"/>
        </p:xfrm>
        <a:graphic>
          <a:graphicData uri="http://schemas.openxmlformats.org/drawingml/2006/table">
            <a:tbl>
              <a:tblPr/>
              <a:tblGrid>
                <a:gridCol w="1727511">
                  <a:extLst>
                    <a:ext uri="{9D8B030D-6E8A-4147-A177-3AD203B41FA5}">
                      <a16:colId xmlns:a16="http://schemas.microsoft.com/office/drawing/2014/main" val="3065605785"/>
                    </a:ext>
                  </a:extLst>
                </a:gridCol>
                <a:gridCol w="4278434">
                  <a:extLst>
                    <a:ext uri="{9D8B030D-6E8A-4147-A177-3AD203B41FA5}">
                      <a16:colId xmlns:a16="http://schemas.microsoft.com/office/drawing/2014/main" val="2598699027"/>
                    </a:ext>
                  </a:extLst>
                </a:gridCol>
                <a:gridCol w="4509654">
                  <a:extLst>
                    <a:ext uri="{9D8B030D-6E8A-4147-A177-3AD203B41FA5}">
                      <a16:colId xmlns:a16="http://schemas.microsoft.com/office/drawing/2014/main" val="1054653922"/>
                    </a:ext>
                  </a:extLst>
                </a:gridCol>
              </a:tblGrid>
              <a:tr h="445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497111"/>
                  </a:ext>
                </a:extLst>
              </a:tr>
              <a:tr h="49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NOT NULL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must have a value (no NULL allowed).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Name VARCHAR(50) NOT NULL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02383"/>
                  </a:ext>
                </a:extLst>
              </a:tr>
              <a:tr h="49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UNIQUE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all values in the column are unique.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Email VARCHAR(100) UNIQUE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202188"/>
                  </a:ext>
                </a:extLst>
              </a:tr>
              <a:tr h="49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PRIMARY KEY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Uniquely identifies each row (NOT NULL + UNIQUE).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StudentID INT PRIMARY KEY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751958"/>
                  </a:ext>
                </a:extLst>
              </a:tr>
              <a:tr h="92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a relationship between two tables.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FOREIGN KEY (StudentID) REFERENCES Students(StudentID)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274461"/>
                  </a:ext>
                </a:extLst>
              </a:tr>
              <a:tr h="49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CHECK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a condition on values.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Age INT CHECK (Age &gt;= 18)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981691"/>
                  </a:ext>
                </a:extLst>
              </a:tr>
              <a:tr h="707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DEFAULT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Assigns a default value when no value is provided.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AdmissionDate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 DATE DEFAULT (CURRENT_DATE)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0463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8A51E2C-92DB-C0A8-9394-9204CB0AD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73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526F-8A00-CE4B-44EF-4F8A7EB7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AE59-18AB-8F51-A284-D5221351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Clause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BA93D-88EF-7717-84B2-084D83560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0D5215-2F0B-543D-A8A2-4DB9CB8E9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364"/>
            <a:ext cx="10515600" cy="506859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WHERE clause allows you to specify a search condition for the rows returned by a query. The following shows the syntax of the WHERE clause: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select_list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search_condition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search_condition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combination of one or more expressions using the logical operator AND, OR and NOT.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SELECT statement will include any row that satisfies 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search_condition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result set.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 the SELECT statement, you can use the WHERE clause in the UPDATE or DELETE statement to specify which rows to update or delete.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186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83A0-0571-92DC-EECC-67A061E3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07BD-0A8C-A728-7C2C-E1796298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Clause </a:t>
            </a:r>
            <a:r>
              <a:rPr lang="en-US" sz="3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78D71-2F4D-4869-DB06-C8435AD63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007AE2-1158-4C91-5BE9-76224CCE7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364"/>
            <a:ext cx="5257800" cy="50685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Using WHERE with SELECT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Get all students from Computer Science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'Computer Science';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Get students older than 20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Age FROM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Age &gt; 20;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WHERE with UPDATE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Update email of ABC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Email = ‘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abc_new@example.com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E0CE121-CBF0-6BFD-AE88-BA159306DF04}"/>
              </a:ext>
            </a:extLst>
          </p:cNvPr>
          <p:cNvSpPr txBox="1">
            <a:spLocks/>
          </p:cNvSpPr>
          <p:nvPr/>
        </p:nvSpPr>
        <p:spPr>
          <a:xfrm>
            <a:off x="6774873" y="1108364"/>
            <a:ext cx="4696690" cy="506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Using WHERE with DELETE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Delete a student from Physics department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'Physics';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474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E5F1-DDDE-5FF8-AC94-80D343C9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8EB0-4BBE-F0CE-F480-63B41DFC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 used in WHERE Clause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C080E7-2E2D-C957-D294-1257B3AFA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B123AE-463A-C859-FEB4-CF868D502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142874"/>
              </p:ext>
            </p:extLst>
          </p:nvPr>
        </p:nvGraphicFramePr>
        <p:xfrm>
          <a:off x="838200" y="1448106"/>
          <a:ext cx="10515600" cy="4337064"/>
        </p:xfrm>
        <a:graphic>
          <a:graphicData uri="http://schemas.openxmlformats.org/drawingml/2006/table">
            <a:tbl>
              <a:tblPr/>
              <a:tblGrid>
                <a:gridCol w="1758811">
                  <a:extLst>
                    <a:ext uri="{9D8B030D-6E8A-4147-A177-3AD203B41FA5}">
                      <a16:colId xmlns:a16="http://schemas.microsoft.com/office/drawing/2014/main" val="4049901591"/>
                    </a:ext>
                  </a:extLst>
                </a:gridCol>
                <a:gridCol w="5397062">
                  <a:extLst>
                    <a:ext uri="{9D8B030D-6E8A-4147-A177-3AD203B41FA5}">
                      <a16:colId xmlns:a16="http://schemas.microsoft.com/office/drawing/2014/main" val="686543708"/>
                    </a:ext>
                  </a:extLst>
                </a:gridCol>
                <a:gridCol w="3359727">
                  <a:extLst>
                    <a:ext uri="{9D8B030D-6E8A-4147-A177-3AD203B41FA5}">
                      <a16:colId xmlns:a16="http://schemas.microsoft.com/office/drawing/2014/main" val="4169978298"/>
                    </a:ext>
                  </a:extLst>
                </a:gridCol>
              </a:tblGrid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753287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=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Age = 20;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Equal to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864755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!=</a:t>
                      </a:r>
                      <a:r>
                        <a:rPr lang="en-IN" sz="1700"/>
                        <a:t> or </a:t>
                      </a:r>
                      <a:r>
                        <a:rPr lang="en-IN" sz="1700">
                          <a:latin typeface="Courier New" panose="02070309020205020404" pitchFamily="49" charset="0"/>
                        </a:rPr>
                        <a:t>&lt;&gt;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Department != 'Math';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Not equal to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382983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IN" sz="1700"/>
                        <a:t> / </a:t>
                      </a:r>
                      <a:r>
                        <a:rPr lang="en-IN" sz="1700">
                          <a:latin typeface="Courier New" panose="02070309020205020404" pitchFamily="49" charset="0"/>
                        </a:rPr>
                        <a:t>&lt;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Age &gt; 18;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Greater/Less than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90979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BETWEEN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Age BETWEEN 18 AND 22;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Range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899349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IN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Department IN ('CS','Physics');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Match multiple values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313730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LIKE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Name LIKE 'A%';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Pattern matching (starts with A)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464642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AND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Age &gt; 18 AND Department='CS';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Multiple conditions (all true)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408820"/>
                  </a:ext>
                </a:extLst>
              </a:tr>
              <a:tr h="481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OR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Courier New" panose="02070309020205020404" pitchFamily="49" charset="0"/>
                        </a:rPr>
                        <a:t>WHERE Age &lt; 20 OR Department='Math';</a:t>
                      </a:r>
                      <a:endParaRPr lang="en-IN" sz="1700"/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At least one condition true</a:t>
                      </a:r>
                    </a:p>
                  </a:txBody>
                  <a:tcPr marL="84634" marR="84634" marT="42317" marB="42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314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550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6CC2-C2AC-E644-2F23-7B0A277D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9646-D54A-F3F6-66E5-FDBC64C8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WHERE with LIKE (Pattern Matching)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957E9-A452-C833-46C5-B4AB5728E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F3E9C4-3452-8A5C-99F5-B709DD76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2327"/>
            <a:ext cx="5424055" cy="487463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is used with wildcards to search for patterns in string columns.</a:t>
            </a:r>
          </a:p>
          <a:p>
            <a:pPr marL="914400" lvl="2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Matches zero or more characters</a:t>
            </a:r>
          </a:p>
          <a:p>
            <a:pPr marL="914400" lvl="2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Matches exactly one character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whose name starts with 'A'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LIKE 'A%';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20C901F-F4B1-A7F4-C7FE-0DAA556F5CA2}"/>
              </a:ext>
            </a:extLst>
          </p:cNvPr>
          <p:cNvSpPr txBox="1">
            <a:spLocks/>
          </p:cNvSpPr>
          <p:nvPr/>
        </p:nvSpPr>
        <p:spPr>
          <a:xfrm>
            <a:off x="6359236" y="1302327"/>
            <a:ext cx="4994563" cy="4874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whose name ends with 'a'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LIKE '%a';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whose name contains 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LIKE '%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%';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with exactly 4-letter names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LIKE ‘____';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39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9A24-5BB5-9652-2B29-A725E912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EA2E-6EBE-E199-446C-80447979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WHERE with BETWEEN (Range Condition)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7C3A51-1F4C-C162-7743-19F5B3380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BD2F6F-8C28-6246-217B-6D3C7414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2327"/>
            <a:ext cx="10162310" cy="487463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is used to filter results within a given range.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with numbers, dates, or text.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aged between 19 and 22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Age BETWEEN 19 AND 22;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with IDs between 101 and 103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101 AND 103;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students whose names are alphabetically between 'A' and 'M'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BETWEEN 'A' AND 'M';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52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5994-4798-86E1-6367-D9552D6D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3FED-9A8C-C38C-3005-4F1247F3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WHERE with (LIKE + BETWEEN)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492D67-DD4D-8B02-F476-39162D07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AA69BD-7D26-D0E4-F52C-EE3C4318C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2327"/>
            <a:ext cx="10162310" cy="48746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Find Computer Science students aged between 20 and 22 whose names start with 'R'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'Computer Science'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Age BETWEEN 20 AND 22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Name LIKE 'R%’;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→ Used for pattern matching in strings.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→ Used for range filtering (numbers, dates, text).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combined with AND / OR for more powerful queries.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0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A5D7-D1F1-1AAE-9A71-76456C1C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63F8-5896-A7F2-4722-FEEFB379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D16384-E92A-82C7-12C4-4E5E98E6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408398-3133-F03A-D499-26DAA2D7B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4552"/>
            <a:ext cx="10162310" cy="548832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the SELECT statement to query data from a table, the order of rows in the result set is unspecified.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sort the rows in the result set, you add the ORDER BY clause to the SELECT statement.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illustrates the syntax of the ORDER BY clause: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select_list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column1 [ASC|DESC], 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column2 [ASC|DESC],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...;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ASC stands for ascending and the DESC stands for descending.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use ASC to sort the result set in ascending order and DESC to sort the result set in descending order.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 ORDER BY clause uses ASC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explicitly specify any option. </a:t>
            </a:r>
          </a:p>
        </p:txBody>
      </p:sp>
    </p:spTree>
    <p:extLst>
      <p:ext uri="{BB962C8B-B14F-4D97-AF65-F5344CB8AC3E}">
        <p14:creationId xmlns:p14="http://schemas.microsoft.com/office/powerpoint/2010/main" val="2896397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0356E-23A7-1396-5CE1-5A8D8AFE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32E3-EE90-31EA-13EA-B248C7B6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 Example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BCEEC-1000-C9B8-03F7-E7010CAFC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B64866-30CB-ADE5-39F9-B7D800865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4552"/>
            <a:ext cx="7330441" cy="517241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ORDER BY clause to sort the result set by one column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SELECT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contactFirstname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contactFirstname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4A48E-1A5D-A7CB-53D0-065577F71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80" y="1004552"/>
            <a:ext cx="2783840" cy="43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3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437A-C78F-74BE-E6E5-9397B2C4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0C68-7FBA-9E66-5644-0B41ECA0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 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1780C-EF93-BE23-921B-07FD1AD49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F48678-E2F3-70C2-99B7-0FF3F69AA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4552"/>
            <a:ext cx="7863841" cy="548832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ORDER BY clause to sort the result set by multiple columns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contactFirstname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contactLastname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contactFirstname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0BB72-B6B4-5A89-5F5F-A296526C4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80" y="1004552"/>
            <a:ext cx="2783840" cy="43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80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AB81-AED2-B9AA-B192-4FB27B2D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5724-5AB3-30E5-5263-DF48AD43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 Example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B7AC1-FA60-F920-6A86-BF001AD1A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45EBED-544E-4501-BD72-941DBB524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4552"/>
            <a:ext cx="7863841" cy="548832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ORDER BY clause to sort a result set by an expression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orderlinenumber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quantityOrdered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priceEach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quantityOrdered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priceEach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F0BC2-F235-5606-4606-2F193D8DC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0" y="1490062"/>
            <a:ext cx="2722486" cy="285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43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ACBD-30DA-C729-EC48-44562C6D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8A5F-F86B-B9CE-6490-D1F5CAD5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Statement in MySQL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73878-5D78-2B3E-EED2-31EA5D2BB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A3428A-7B50-3A3C-7765-69FB957B4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3480"/>
            <a:ext cx="5562600" cy="531939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Select All Columns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all rows and columns.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Specific Columns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Age FROM Students;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only Name and Age.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Using WHERE Clause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 = 'Computer Science';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rows.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9DBB58C-2414-CCC5-841E-D7088E079CA8}"/>
              </a:ext>
            </a:extLst>
          </p:cNvPr>
          <p:cNvSpPr txBox="1">
            <a:spLocks/>
          </p:cNvSpPr>
          <p:nvPr/>
        </p:nvSpPr>
        <p:spPr>
          <a:xfrm>
            <a:off x="6781800" y="1173480"/>
            <a:ext cx="4876800" cy="53193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Using Aliases (AS)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 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AS Dept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Renames output columns.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Sorting with ORDER BY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Age DESC;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Sorts students by Age in descending order.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55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C0AD-4134-C432-1B55-BB9A4B23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A624-C1C4-86F7-2650-2BE7E0B3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Statement in MySQL </a:t>
            </a:r>
            <a:r>
              <a:rPr lang="en-US" sz="3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F6929-AC31-EE84-AF50-8BD1ED234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31A60B-1950-66EF-9204-37C2134D8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73480"/>
            <a:ext cx="10515599" cy="470916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Eliminating Duplicates with DISTINCT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Department FROM Students;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unique departments.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Using LIMIT (Top-N Rows)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2;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first 2 rows.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787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6324-C2FF-7598-5513-39DA3C46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E916-FAD1-2711-82DB-E5460679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Grouping data in MySQL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4A116-993B-E196-60B0-313DC1CA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21636-F4A1-8FB1-2415-B2DE19AE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86840"/>
            <a:ext cx="10515599" cy="44958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show you how to group rows into groups based on columns or expressions.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filter the groups by a specific condition.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show you how to use the HAVING clause with the COUNT function to filter groups by the number of items.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68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2D79-0E75-6615-1E0B-486F1D067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39E7-7BA5-795A-6794-DEC4AB0F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in MySQL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9FD36-9007-1245-FA10-C8BAE52FD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5F4FA5-9163-3CEB-DF2E-EB16663F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73480"/>
            <a:ext cx="10515599" cy="470916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 groups rows that have the same values in one or more columns.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usually used with aggregate functions (COUNT, SUM, AVG, MAX, MIN).</a:t>
            </a:r>
          </a:p>
          <a:p>
            <a:pPr marL="457200" lvl="1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Department, COUNT(*) 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TotalStudents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Department;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rows are grouped by Department, and then COUNT(*) is applied to each group.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0F89DD-409C-16E0-6F5E-EF69CF22A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594189"/>
              </p:ext>
            </p:extLst>
          </p:nvPr>
        </p:nvGraphicFramePr>
        <p:xfrm>
          <a:off x="7726677" y="2072640"/>
          <a:ext cx="3627120" cy="2286000"/>
        </p:xfrm>
        <a:graphic>
          <a:graphicData uri="http://schemas.openxmlformats.org/drawingml/2006/table">
            <a:tbl>
              <a:tblPr/>
              <a:tblGrid>
                <a:gridCol w="1874419">
                  <a:extLst>
                    <a:ext uri="{9D8B030D-6E8A-4147-A177-3AD203B41FA5}">
                      <a16:colId xmlns:a16="http://schemas.microsoft.com/office/drawing/2014/main" val="3013982245"/>
                    </a:ext>
                  </a:extLst>
                </a:gridCol>
                <a:gridCol w="1752701">
                  <a:extLst>
                    <a:ext uri="{9D8B030D-6E8A-4147-A177-3AD203B41FA5}">
                      <a16:colId xmlns:a16="http://schemas.microsoft.com/office/drawing/2014/main" val="2078018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TotalStudents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3361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Computer 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9620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Mathematics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4958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20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9460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CAF2-BA7D-3C8F-F608-22FA34C2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B6C0-44AC-317C-7A27-E2AE38CD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in MySQL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8DEF4-EAC1-7A68-55FA-64496AC1D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85BB7-34AF-5907-91FB-F94C81B31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73480"/>
            <a:ext cx="10515599" cy="4709160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 is used to filter groups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aggregation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filters rows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grouping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filters groups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grouping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Department, AVG(Age) AS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AvgAge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Department</a:t>
            </a: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AVG(Age) &gt; 21;</a:t>
            </a: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departments with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21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shown.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E6442-9767-EF1A-B986-3DBB193D6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778347"/>
              </p:ext>
            </p:extLst>
          </p:nvPr>
        </p:nvGraphicFramePr>
        <p:xfrm>
          <a:off x="7284720" y="2979420"/>
          <a:ext cx="3901440" cy="109728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1543964299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79702253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540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Mathematics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9820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Computer 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6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043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D044-A623-18F7-6536-40CC47D1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EAD6-5F93-BD48-206D-F5608978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with COUNT (HAVING COUNT) in MySQL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7EE59B-F818-D879-EA96-830CD4F1A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1D45CA-6D09-997D-A9C7-D6C005320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73480"/>
            <a:ext cx="10515599" cy="4709160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want to filter based on the number of rows in each group, we 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COUNT().</a:t>
            </a: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Department, COUNT(*) AS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TotalStudents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Department</a:t>
            </a:r>
          </a:p>
          <a:p>
            <a:pPr marL="457200" lvl="1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  <a:p>
            <a:endParaRPr lang="en-IN" sz="2000" dirty="0"/>
          </a:p>
          <a:p>
            <a:r>
              <a:rPr lang="en-IN" sz="2000" dirty="0"/>
              <a:t>Departments with more than </a:t>
            </a:r>
            <a:r>
              <a:rPr lang="en-IN" sz="2000" b="1" dirty="0"/>
              <a:t>1 student</a:t>
            </a:r>
            <a:r>
              <a:rPr lang="en-IN" sz="2000" dirty="0"/>
              <a:t> are included.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379CA-7B52-CA75-C001-51093FC77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662842"/>
              </p:ext>
            </p:extLst>
          </p:nvPr>
        </p:nvGraphicFramePr>
        <p:xfrm>
          <a:off x="8168634" y="1974374"/>
          <a:ext cx="3459486" cy="1454625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1130026798"/>
                    </a:ext>
                  </a:extLst>
                </a:gridCol>
                <a:gridCol w="1524006">
                  <a:extLst>
                    <a:ext uri="{9D8B030D-6E8A-4147-A177-3AD203B41FA5}">
                      <a16:colId xmlns:a16="http://schemas.microsoft.com/office/drawing/2014/main" val="6632170"/>
                    </a:ext>
                  </a:extLst>
                </a:gridCol>
              </a:tblGrid>
              <a:tr h="484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TotalStudents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562550"/>
                  </a:ext>
                </a:extLst>
              </a:tr>
              <a:tr h="484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Computer Science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594202"/>
                  </a:ext>
                </a:extLst>
              </a:tr>
              <a:tr h="484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Mathematics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35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9784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F3D5-C080-2015-F995-A710BF54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47F3-7BEE-E994-D154-6F1EF566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WHERE and HAVING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B536C-33E5-9FF4-597B-F0127E2DB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1751E6-76AF-9AB2-B47C-A134E9F40A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413843"/>
              </p:ext>
            </p:extLst>
          </p:nvPr>
        </p:nvGraphicFramePr>
        <p:xfrm>
          <a:off x="1036320" y="1722580"/>
          <a:ext cx="10317480" cy="3108615"/>
        </p:xfrm>
        <a:graphic>
          <a:graphicData uri="http://schemas.openxmlformats.org/drawingml/2006/table">
            <a:tbl>
              <a:tblPr/>
              <a:tblGrid>
                <a:gridCol w="4063008">
                  <a:extLst>
                    <a:ext uri="{9D8B030D-6E8A-4147-A177-3AD203B41FA5}">
                      <a16:colId xmlns:a16="http://schemas.microsoft.com/office/drawing/2014/main" val="1412201562"/>
                    </a:ext>
                  </a:extLst>
                </a:gridCol>
                <a:gridCol w="3285531">
                  <a:extLst>
                    <a:ext uri="{9D8B030D-6E8A-4147-A177-3AD203B41FA5}">
                      <a16:colId xmlns:a16="http://schemas.microsoft.com/office/drawing/2014/main" val="1673777807"/>
                    </a:ext>
                  </a:extLst>
                </a:gridCol>
                <a:gridCol w="2968941">
                  <a:extLst>
                    <a:ext uri="{9D8B030D-6E8A-4147-A177-3AD203B41FA5}">
                      <a16:colId xmlns:a16="http://schemas.microsoft.com/office/drawing/2014/main" val="3210702768"/>
                    </a:ext>
                  </a:extLst>
                </a:gridCol>
              </a:tblGrid>
              <a:tr h="42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261795"/>
                  </a:ext>
                </a:extLst>
              </a:tr>
              <a:tr h="42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When applied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grouping (on 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grouping (on groups)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112608"/>
                  </a:ext>
                </a:extLst>
              </a:tr>
              <a:tr h="42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Can use aggregates (COUNT, SUM, etc.)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784631"/>
                  </a:ext>
                </a:extLst>
              </a:tr>
              <a:tr h="42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 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to filter rows based on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to filter rows based on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31061"/>
                  </a:ext>
                </a:extLst>
              </a:tr>
              <a:tr h="42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Query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SELECT Department, COUNT(*) FROM Students WHERE Age &gt; 20 GROUP BY Department;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SELECT Department, COUNT(*) FROM Students GROUP BY Department HAVING COUNT(*) &gt; 2;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26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1139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91B0-BBC5-C582-6A4F-E38AA7C3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C3AF-A7C0-3E53-33FD-BE04686C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4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Flow of a SELECT Query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5D858D-8F31-47FE-178E-6E5FDB25E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668" y="6059830"/>
            <a:ext cx="1904386" cy="7202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01338B-4243-F5DC-E02E-535A5184D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5257800" cy="489680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MySQL executes a query like: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Department, COUNT(*) AS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TotalStudents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Age &gt; 20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Department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steps happen in this order (not in the order you write them):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07A046C-03A3-C932-03BE-6C036021F4F1}"/>
              </a:ext>
            </a:extLst>
          </p:cNvPr>
          <p:cNvSpPr txBox="1">
            <a:spLocks/>
          </p:cNvSpPr>
          <p:nvPr/>
        </p:nvSpPr>
        <p:spPr>
          <a:xfrm>
            <a:off x="6263640" y="1280160"/>
            <a:ext cx="5684520" cy="489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Flow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→ Take the table (Students)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→ Filter rows (Age &gt; 20)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→ Group remaining rows by Department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→ Apply (COUNT(*)) on each group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→ Filter groups (COUNT(*) &gt; 1)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→ Return final columns (Department,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(if any) → Sort the final result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3868</Words>
  <Application>Microsoft Macintosh PowerPoint</Application>
  <PresentationFormat>Widescreen</PresentationFormat>
  <Paragraphs>674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Times New Roman</vt:lpstr>
      <vt:lpstr>Office Theme</vt:lpstr>
      <vt:lpstr>SQL Commands</vt:lpstr>
      <vt:lpstr>SQL DDL Commands</vt:lpstr>
      <vt:lpstr>SQL DDL Commands</vt:lpstr>
      <vt:lpstr>CREATE Command</vt:lpstr>
      <vt:lpstr>ALTER Command</vt:lpstr>
      <vt:lpstr>DROP Command</vt:lpstr>
      <vt:lpstr>TRUNCATE Command</vt:lpstr>
      <vt:lpstr>RENAME Command</vt:lpstr>
      <vt:lpstr>Summary</vt:lpstr>
      <vt:lpstr>Case Study: School Database with DDL Commands</vt:lpstr>
      <vt:lpstr>Case Study: School Database with DDL Commands</vt:lpstr>
      <vt:lpstr>Case Study: School Database with DDL Commands</vt:lpstr>
      <vt:lpstr>Case Study: School Database with DDL Commands</vt:lpstr>
      <vt:lpstr>SQL DML Commands</vt:lpstr>
      <vt:lpstr>SQL DML Commands</vt:lpstr>
      <vt:lpstr>INSERT Command</vt:lpstr>
      <vt:lpstr>SELECT Command</vt:lpstr>
      <vt:lpstr>UPDATE Command</vt:lpstr>
      <vt:lpstr>DELETE Command</vt:lpstr>
      <vt:lpstr>Case Study: School Admissions Management</vt:lpstr>
      <vt:lpstr>Case Study: School Admissions Management</vt:lpstr>
      <vt:lpstr>Case Study: School Admissions Management</vt:lpstr>
      <vt:lpstr>Case Study: School Admissions Management</vt:lpstr>
      <vt:lpstr>Case Study: School Admissions Management</vt:lpstr>
      <vt:lpstr>Constraints in SQL</vt:lpstr>
      <vt:lpstr>Constraints in SQL Cont..</vt:lpstr>
      <vt:lpstr>Constraints in SQL Summary</vt:lpstr>
      <vt:lpstr>WHERE Clause</vt:lpstr>
      <vt:lpstr>WHERE Clause cont…</vt:lpstr>
      <vt:lpstr>Operators used in WHERE Clause</vt:lpstr>
      <vt:lpstr>1. WHERE with LIKE (Pattern Matching)</vt:lpstr>
      <vt:lpstr>2. WHERE with BETWEEN (Range Condition)</vt:lpstr>
      <vt:lpstr>3. WHERE with (LIKE + BETWEEN)</vt:lpstr>
      <vt:lpstr>ORDER BY Clause</vt:lpstr>
      <vt:lpstr>ORDER BY Clause Example 1</vt:lpstr>
      <vt:lpstr>ORDER BY Clause Example 2</vt:lpstr>
      <vt:lpstr>ORDER BY Clause Example 3</vt:lpstr>
      <vt:lpstr>SELECT Statement in MySQL</vt:lpstr>
      <vt:lpstr>SELECT Statement in MySQL Cont…</vt:lpstr>
      <vt:lpstr>Grouping data in MySQL</vt:lpstr>
      <vt:lpstr>GROUP BY in MySQL</vt:lpstr>
      <vt:lpstr>HAVING in MySQL</vt:lpstr>
      <vt:lpstr>HAVING with COUNT (HAVING COUNT) in MySQL</vt:lpstr>
      <vt:lpstr>Difference Between WHERE and HAVING</vt:lpstr>
      <vt:lpstr>Execution Flow of a SELECT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Aftab Yaseen</dc:creator>
  <cp:lastModifiedBy>Aftab Yaseen</cp:lastModifiedBy>
  <cp:revision>207</cp:revision>
  <dcterms:created xsi:type="dcterms:W3CDTF">2025-08-19T03:28:12Z</dcterms:created>
  <dcterms:modified xsi:type="dcterms:W3CDTF">2025-08-23T04:22:29Z</dcterms:modified>
</cp:coreProperties>
</file>